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Apertura. Presentati e di' in una frase: «Ho sviluppato da zero un videogioco che aiuta un paziente a fare esercizi di riabilitazione motoria, controllandolo anche con i movimenti del braccio davanti alla webcam.»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Filo: prima 'come l'ho fatto' (gioco + software), poi 'a cosa serve' (riabilitazione ed evidenze).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Messaggio: non è 'solo un gioco', è un'interfaccia per la terapia. Tutto scritto da codice (competenza di programmazione); la webcam allena il movimento del braccio.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bambino non 'fa fisioterapia': gioca. La terapia è nel movimento che fa per giocare. Se puoi, mostra una schermata reale del gioco.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Primo schema a blocchi: il ciclo di gioco. Due fasi per livello (raccogli stelline → raggiungi la porta), tre livelli in sequenza, e una 'corsia' rossa per gli errori (vite, game over). Dopo un errore c'è una breve invulnerabilità per non perdere tutte le vite di colpo.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Secondo schema a blocchi: l'architettura. Concetto chiave: ogni modulo ha un compito solo (separazione delle responsabilità). 'Comandi' è un punto unico: Astro chiede solo 'dove punto?', non sa se rispondi col mouse, la webcam o il joystick — per questo aggiungere una modalità non tocca il resto. Banda gialla: tutti i numeri regolabili sono raccolti in 'pagine dei parametri', separate dalla logica.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stessa attività allena cose diverse a seconda del comando. La webcam è la parte più originale: dettagli nella prossima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Punto tecnico forte: niente IA, niente librerie esterne — 'inseguo un colore'. Scelta progettuale onesta e robusta. La 'morbidezza' è il parametro pensato per il tremore.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Concetto di apprendimento motorio: il 'feedback aumentato' immediato consolida il gesto corretto. Doppio canale (audio+video) per chi ha un canale più debole. Errore = segnale gentile, non punitivo.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 livelli a difficoltà crescente. Tutti i numeri (difficoltà, tempi, volumi, anti-tremore) vivono in poche 'pagine dei parametri': il terapista può tarare il gioco sul singolo paziente senza programmare.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Riepilogo del lavoro, senza codice. Tre filoni: il gioco, l'accessibilità (la parte più originale) e gli agganci alla terapia. Tutto generato da codice = nessuna dipendenza esterna, massima portabilità.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Inquadra il tipo di terapia (riabilitazione motoria dell'arto superiore / coordinazione) e collega ogni caratteristica del gioco a un obiettivo terapeutico. Sii onesto: è un prototipo, l'efficacia va validata.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 porti le prove: i serious game/exergame aumentano motivazione e quantità di pratica, e il feedback immediato favorisce l'apprendimento motorio. Cita gli autori mostrati. La bibliografia completa è nella tesina.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Questa slide spiega al prof come è organizzata la relazione scritta e mostra il legame PP↔tesina. La tesina in Word (file a parte) contiene già questi capitoli con segnaposto per le immagini.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Chiudi con onestà: prototipo solido dal lato ingegneristico; il passo successivo è misurare e validare. Le metriche (tempi, errori, ampiezza dei movimenti) sono il ponte verso un uso clinico.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Ringrazia e apri alle domande. Tieni pronte: 'perché senza IA?', 'come misureresti l'efficacia?', 'che ruolo ha il terapista?'.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04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0" y="0"/>
            <a:ext cx="91440" cy="6858000"/>
          </a:xfrm>
          <a:prstGeom prst="rect">
            <a:avLst/>
          </a:prstGeom>
          <a:solidFill>
            <a:srgbClr val="EF9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206240" cy="146304"/>
          </a:xfrm>
          <a:prstGeom prst="rect">
            <a:avLst/>
          </a:prstGeom>
          <a:solidFill>
            <a:srgbClr val="EF9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5212080"/>
            <a:ext cx="457200" cy="457200"/>
          </a:xfrm>
          <a:prstGeom prst="ellipse">
            <a:avLst/>
          </a:prstGeom>
          <a:solidFill>
            <a:srgbClr val="3EA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46120" y="1051560"/>
            <a:ext cx="640080" cy="640080"/>
          </a:xfrm>
          <a:prstGeom prst="ellipse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5943600"/>
            <a:ext cx="274320" cy="274320"/>
          </a:xfrm>
          <a:prstGeom prst="ellipse">
            <a:avLst/>
          </a:prstGeom>
          <a:solidFill>
            <a:srgbClr val="EF9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566160" y="4663440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4480560"/>
            <a:ext cx="146304" cy="146304"/>
          </a:xfrm>
          <a:prstGeom prst="ellipse">
            <a:avLst/>
          </a:prstGeom>
          <a:solidFill>
            <a:srgbClr val="3EA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2240280"/>
            <a:ext cx="1828800" cy="1828800"/>
          </a:xfrm>
          <a:prstGeom prst="ellipse">
            <a:avLst/>
          </a:prstGeom>
          <a:solidFill>
            <a:srgbClr val="EF9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2976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ASTRO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E3F3F2"/>
                </a:solidFill>
                <a:latin typeface="Calibri"/>
              </a:rPr>
              <a:t>l'alieno esploratore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89788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POLITECNICO DI BARI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3F3F2"/>
                </a:solidFill>
                <a:latin typeface="Calibri"/>
              </a:rPr>
              <a:t>Corso di Programmazione / Informatica</a:t>
            </a:r>
          </a:p>
        </p:txBody>
      </p:sp>
      <p:pic>
        <p:nvPicPr>
          <p:cNvPr id="13" name="Picture 12" descr="logo_polib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74320"/>
            <a:ext cx="1280160" cy="365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09160" y="1417320"/>
            <a:ext cx="69494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5E6E6E"/>
                </a:solidFill>
                <a:latin typeface="Calibri"/>
              </a:rPr>
              <a:t>Un videogioco per la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04C4B"/>
                </a:solidFill>
                <a:latin typeface="Calibri"/>
              </a:rPr>
              <a:t>riabilitazione motoria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400"/>
              </a:spcAft>
            </a:pPr>
            <a:r>
              <a:rPr sz="1550" b="0" i="0">
                <a:solidFill>
                  <a:srgbClr val="5E6E6E"/>
                </a:solidFill>
                <a:latin typeface="Calibri"/>
              </a:rPr>
              <a:t>Progettazione di un'interfaccia software che supporta il paziente durante l'esercizio riabilitativo, trasformandolo in gioco.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4160520"/>
            <a:ext cx="3383280" cy="731520"/>
          </a:xfrm>
          <a:prstGeom prst="roundRect">
            <a:avLst/>
          </a:prstGeom>
          <a:solidFill>
            <a:srgbClr val="F3F8F7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3752" y="4261104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009A9A"/>
                </a:solidFill>
                <a:latin typeface="Calibri"/>
              </a:rPr>
              <a:t>STUDENTE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12B2B"/>
                </a:solidFill>
                <a:latin typeface="Calibri"/>
              </a:rPr>
              <a:t>________________________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4160520"/>
            <a:ext cx="3383280" cy="731520"/>
          </a:xfrm>
          <a:prstGeom prst="roundRect">
            <a:avLst/>
          </a:prstGeom>
          <a:solidFill>
            <a:srgbClr val="F3F8F7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4261104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009A9A"/>
                </a:solidFill>
                <a:latin typeface="Calibri"/>
              </a:rPr>
              <a:t>RELATORE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12B2B"/>
                </a:solidFill>
                <a:latin typeface="Calibri"/>
              </a:rPr>
              <a:t>________________________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5056631"/>
            <a:ext cx="3383280" cy="731520"/>
          </a:xfrm>
          <a:prstGeom prst="roundRect">
            <a:avLst/>
          </a:prstGeom>
          <a:solidFill>
            <a:srgbClr val="F3F8F7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3752" y="5157216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009A9A"/>
                </a:solidFill>
                <a:latin typeface="Calibri"/>
              </a:rPr>
              <a:t>CORSO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12B2B"/>
                </a:solidFill>
                <a:latin typeface="Calibri"/>
              </a:rPr>
              <a:t>________________________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5056631"/>
            <a:ext cx="3383280" cy="731520"/>
          </a:xfrm>
          <a:prstGeom prst="roundRect">
            <a:avLst/>
          </a:prstGeom>
          <a:solidFill>
            <a:srgbClr val="F3F8F7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85632" y="5157216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009A9A"/>
                </a:solidFill>
                <a:latin typeface="Calibri"/>
              </a:rPr>
              <a:t>ANNO ACCADEMICO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12B2B"/>
                </a:solidFill>
                <a:latin typeface="Calibri"/>
              </a:rPr>
              <a:t>20__ / 20__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polib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74320"/>
            <a:ext cx="128016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75488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4C4B"/>
                </a:solidFill>
                <a:latin typeface="Calibri"/>
              </a:rPr>
              <a:t>Di cosa parliamo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81328"/>
            <a:ext cx="868680" cy="868680"/>
          </a:xfrm>
          <a:prstGeom prst="roundRect">
            <a:avLst>
              <a:gd name="adj" fmla="val 9000"/>
            </a:avLst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39" y="1527048"/>
            <a:ext cx="4434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212B2B"/>
                </a:solidFill>
                <a:latin typeface="Calibri"/>
              </a:rPr>
              <a:t>Il progetto e l'obiettivo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E6E"/>
                </a:solidFill>
                <a:latin typeface="Calibri"/>
              </a:rPr>
              <a:t>Cosa ho costruito e perché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868680" cy="868680"/>
          </a:xfrm>
          <a:prstGeom prst="roundRect">
            <a:avLst>
              <a:gd name="adj" fmla="val 9000"/>
            </a:avLst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39" y="2697480"/>
            <a:ext cx="4434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212B2B"/>
                </a:solidFill>
                <a:latin typeface="Calibri"/>
              </a:rPr>
              <a:t>Come funziona il gioco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E6E"/>
                </a:solidFill>
                <a:latin typeface="Calibri"/>
              </a:rPr>
              <a:t>Concept e flusso di gioco (schema a blocchi)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22191"/>
            <a:ext cx="868680" cy="868680"/>
          </a:xfrm>
          <a:prstGeom prst="roundRect">
            <a:avLst>
              <a:gd name="adj" fmla="val 9000"/>
            </a:avLst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39" y="3867911"/>
            <a:ext cx="4434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212B2B"/>
                </a:solidFill>
                <a:latin typeface="Calibri"/>
              </a:rPr>
              <a:t>L'architettura del software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E6E"/>
                </a:solidFill>
                <a:latin typeface="Calibri"/>
              </a:rPr>
              <a:t>I moduli e come dialogano (schema a blocchi)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992624"/>
            <a:ext cx="868680" cy="868680"/>
          </a:xfrm>
          <a:prstGeom prst="roundRect">
            <a:avLst>
              <a:gd name="adj" fmla="val 9000"/>
            </a:avLst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39" y="5038344"/>
            <a:ext cx="4434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212B2B"/>
                </a:solidFill>
                <a:latin typeface="Calibri"/>
              </a:rPr>
              <a:t>Le tre modalità di comando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E6E"/>
                </a:solidFill>
                <a:latin typeface="Calibri"/>
              </a:rPr>
              <a:t>Mouse, dito (webcam), joystick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81328"/>
            <a:ext cx="868680" cy="868680"/>
          </a:xfrm>
          <a:prstGeom prst="roundRect">
            <a:avLst>
              <a:gd name="adj" fmla="val 9000"/>
            </a:avLst>
          </a:prstGeom>
          <a:solidFill>
            <a:srgbClr val="006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527048"/>
            <a:ext cx="4434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212B2B"/>
                </a:solidFill>
                <a:latin typeface="Calibri"/>
              </a:rPr>
              <a:t>Il feedback al paziente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E6E"/>
                </a:solidFill>
                <a:latin typeface="Calibri"/>
              </a:rPr>
              <a:t>Risposta sonora e visiva immediata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651760"/>
            <a:ext cx="868680" cy="868680"/>
          </a:xfrm>
          <a:prstGeom prst="roundRect">
            <a:avLst>
              <a:gd name="adj" fmla="val 9000"/>
            </a:avLst>
          </a:prstGeom>
          <a:solidFill>
            <a:srgbClr val="006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697480"/>
            <a:ext cx="4434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212B2B"/>
                </a:solidFill>
                <a:latin typeface="Calibri"/>
              </a:rPr>
              <a:t>Livelli e parametri regolabili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E6E"/>
                </a:solidFill>
                <a:latin typeface="Calibri"/>
              </a:rPr>
              <a:t>Difficoltà e accessibilità su misura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822191"/>
            <a:ext cx="868680" cy="868680"/>
          </a:xfrm>
          <a:prstGeom prst="roundRect">
            <a:avLst>
              <a:gd name="adj" fmla="val 9000"/>
            </a:avLst>
          </a:prstGeom>
          <a:solidFill>
            <a:srgbClr val="006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867911"/>
            <a:ext cx="4434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212B2B"/>
                </a:solidFill>
                <a:latin typeface="Calibri"/>
              </a:rPr>
              <a:t>La riabilitazione e le evidenze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E6E"/>
                </a:solidFill>
                <a:latin typeface="Calibri"/>
              </a:rPr>
              <a:t>Tipo di terapia, vantaggi, letteratura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992624"/>
            <a:ext cx="868680" cy="868680"/>
          </a:xfrm>
          <a:prstGeom prst="roundRect">
            <a:avLst>
              <a:gd name="adj" fmla="val 9000"/>
            </a:avLst>
          </a:prstGeom>
          <a:solidFill>
            <a:srgbClr val="006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5038344"/>
            <a:ext cx="4434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212B2B"/>
                </a:solidFill>
                <a:latin typeface="Calibri"/>
              </a:rPr>
              <a:t>Conclusioni e sviluppi futuri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E6E"/>
                </a:solidFill>
                <a:latin typeface="Calibri"/>
              </a:rPr>
              <a:t>Cosa funziona e dove si può arrivare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37376"/>
            <a:ext cx="11183112" cy="15240"/>
          </a:xfrm>
          <a:prstGeom prst="rect">
            <a:avLst/>
          </a:prstGeom>
          <a:solidFill>
            <a:srgbClr val="CBD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E6E"/>
                </a:solidFill>
                <a:latin typeface="Calibri"/>
              </a:rPr>
              <a:t>Astro · Videogioco per la riabilitazione motoria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92240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E6E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polib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74320"/>
            <a:ext cx="128016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A9A"/>
                </a:solidFill>
                <a:latin typeface="Calibri"/>
              </a:rPr>
              <a:t>IL PROGETTO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9692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4C4B"/>
                </a:solidFill>
                <a:latin typeface="Calibri"/>
              </a:rPr>
              <a:t>Trasformare l'esercizio in un gioco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37376"/>
            <a:ext cx="11183112" cy="15240"/>
          </a:xfrm>
          <a:prstGeom prst="rect">
            <a:avLst/>
          </a:prstGeom>
          <a:solidFill>
            <a:srgbClr val="CBD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E6E"/>
                </a:solidFill>
                <a:latin typeface="Calibri"/>
              </a:rPr>
              <a:t>Astro · Videogioco per la riabilitazione motoria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E6E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61264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 i="0">
                <a:solidFill>
                  <a:srgbClr val="009A9A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006E6C"/>
                </a:solidFill>
                <a:latin typeface="Calibri"/>
              </a:rPr>
              <a:t>Il problema. </a:t>
            </a:r>
            <a:r>
              <a:rPr sz="1450" b="0" i="0">
                <a:solidFill>
                  <a:srgbClr val="212B2B"/>
                </a:solidFill>
                <a:latin typeface="Calibri"/>
              </a:rPr>
              <a:t>la riabilitazione motoria richiede di ripetere molte volte gli stessi movimenti: è efficace ma noioso, e la motivazione cala — soprattutto nei bambini.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 i="0">
                <a:solidFill>
                  <a:srgbClr val="009A9A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006E6C"/>
                </a:solidFill>
                <a:latin typeface="Calibri"/>
              </a:rPr>
              <a:t>L'idea. </a:t>
            </a:r>
            <a:r>
              <a:rPr sz="1450" b="0" i="0">
                <a:solidFill>
                  <a:srgbClr val="212B2B"/>
                </a:solidFill>
                <a:latin typeface="Calibri"/>
              </a:rPr>
              <a:t>trasformare l'esercizio in un gioco spaziale. Il paziente muove «Astro» per raccogliere stelline ed evitare ostacoli: continua a muoversi divertendosi.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 i="0">
                <a:solidFill>
                  <a:srgbClr val="009A9A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006E6C"/>
                </a:solidFill>
                <a:latin typeface="Calibri"/>
              </a:rPr>
              <a:t>Il cuore del progetto. </a:t>
            </a:r>
            <a:r>
              <a:rPr sz="1450" b="0" i="0">
                <a:solidFill>
                  <a:srgbClr val="212B2B"/>
                </a:solidFill>
                <a:latin typeface="Calibri"/>
              </a:rPr>
              <a:t>il movimento si può fare con il braccio nello spazio, inquadrato dalla webcam: così si allenano gesti ampi e controllati.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 i="0">
                <a:solidFill>
                  <a:srgbClr val="009A9A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006E6C"/>
                </a:solidFill>
                <a:latin typeface="Calibri"/>
              </a:rPr>
              <a:t>Obiettivo del lavoro. </a:t>
            </a:r>
            <a:r>
              <a:rPr sz="1450" b="0" i="0">
                <a:solidFill>
                  <a:srgbClr val="212B2B"/>
                </a:solidFill>
                <a:latin typeface="Calibri"/>
              </a:rPr>
              <a:t>dimostrare competenze di programmazione costruendo da zero un'interfaccia software realmente utile in ambito riabilitativo.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645920"/>
            <a:ext cx="4800600" cy="4526280"/>
          </a:xfrm>
          <a:prstGeom prst="roundRect">
            <a:avLst/>
          </a:prstGeom>
          <a:solidFill>
            <a:srgbClr val="F3F8F7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874519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6E6C"/>
                </a:solidFill>
                <a:latin typeface="Calibri"/>
              </a:rPr>
              <a:t>In sintesi</a:t>
            </a:r>
          </a:p>
        </p:txBody>
      </p:sp>
      <p:sp>
        <p:nvSpPr>
          <p:cNvPr id="12" name="Oval 11"/>
          <p:cNvSpPr/>
          <p:nvPr/>
        </p:nvSpPr>
        <p:spPr>
          <a:xfrm>
            <a:off x="7223760" y="2404872"/>
            <a:ext cx="256032" cy="256032"/>
          </a:xfrm>
          <a:prstGeom prst="ellipse">
            <a:avLst/>
          </a:prstGeom>
          <a:solidFill>
            <a:srgbClr val="EF9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331720"/>
            <a:ext cx="3886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12B2B"/>
                </a:solidFill>
                <a:latin typeface="Calibri"/>
              </a:rPr>
              <a:t>Sviluppato in Unity</a:t>
            </a:r>
            <a:r>
              <a:rPr sz="1250" b="0" i="0">
                <a:solidFill>
                  <a:srgbClr val="5E6E6E"/>
                </a:solidFill>
                <a:latin typeface="Calibri"/>
              </a:rPr>
              <a:t> — linguaggio C#</a:t>
            </a:r>
          </a:p>
        </p:txBody>
      </p:sp>
      <p:sp>
        <p:nvSpPr>
          <p:cNvPr id="14" name="Oval 13"/>
          <p:cNvSpPr/>
          <p:nvPr/>
        </p:nvSpPr>
        <p:spPr>
          <a:xfrm>
            <a:off x="7223760" y="3035808"/>
            <a:ext cx="256032" cy="256032"/>
          </a:xfrm>
          <a:prstGeom prst="ellipse">
            <a:avLst/>
          </a:prstGeom>
          <a:solidFill>
            <a:srgbClr val="EF9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8" y="2962656"/>
            <a:ext cx="3886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12B2B"/>
                </a:solidFill>
                <a:latin typeface="Calibri"/>
              </a:rPr>
              <a:t>Tutto generato da codice</a:t>
            </a:r>
            <a:r>
              <a:rPr sz="1250" b="0" i="0">
                <a:solidFill>
                  <a:srgbClr val="5E6E6E"/>
                </a:solidFill>
                <a:latin typeface="Calibri"/>
              </a:rPr>
              <a:t> — nessun file grafico o audio esterno</a:t>
            </a:r>
          </a:p>
        </p:txBody>
      </p:sp>
      <p:sp>
        <p:nvSpPr>
          <p:cNvPr id="16" name="Oval 15"/>
          <p:cNvSpPr/>
          <p:nvPr/>
        </p:nvSpPr>
        <p:spPr>
          <a:xfrm>
            <a:off x="7223760" y="3666744"/>
            <a:ext cx="256032" cy="256032"/>
          </a:xfrm>
          <a:prstGeom prst="ellipse">
            <a:avLst/>
          </a:prstGeom>
          <a:solidFill>
            <a:srgbClr val="EF9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3593592"/>
            <a:ext cx="3886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12B2B"/>
                </a:solidFill>
                <a:latin typeface="Calibri"/>
              </a:rPr>
              <a:t>3 modalità di comando</a:t>
            </a:r>
            <a:r>
              <a:rPr sz="1250" b="0" i="0">
                <a:solidFill>
                  <a:srgbClr val="5E6E6E"/>
                </a:solidFill>
                <a:latin typeface="Calibri"/>
              </a:rPr>
              <a:t> — mouse · dito (webcam) · joystick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4297680"/>
            <a:ext cx="256032" cy="256032"/>
          </a:xfrm>
          <a:prstGeom prst="ellipse">
            <a:avLst/>
          </a:prstGeom>
          <a:solidFill>
            <a:srgbClr val="EF9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8" y="4224528"/>
            <a:ext cx="3886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12B2B"/>
                </a:solidFill>
                <a:latin typeface="Calibri"/>
              </a:rPr>
              <a:t>Feedback multisensoriale</a:t>
            </a:r>
            <a:r>
              <a:rPr sz="1250" b="0" i="0">
                <a:solidFill>
                  <a:srgbClr val="5E6E6E"/>
                </a:solidFill>
                <a:latin typeface="Calibri"/>
              </a:rPr>
              <a:t> — suono + reazione visiva di Astro</a:t>
            </a:r>
          </a:p>
        </p:txBody>
      </p:sp>
      <p:sp>
        <p:nvSpPr>
          <p:cNvPr id="20" name="Oval 19"/>
          <p:cNvSpPr/>
          <p:nvPr/>
        </p:nvSpPr>
        <p:spPr>
          <a:xfrm>
            <a:off x="7223760" y="4928616"/>
            <a:ext cx="256032" cy="256032"/>
          </a:xfrm>
          <a:prstGeom prst="ellipse">
            <a:avLst/>
          </a:prstGeom>
          <a:solidFill>
            <a:srgbClr val="EF9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4855464"/>
            <a:ext cx="3886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12B2B"/>
                </a:solidFill>
                <a:latin typeface="Calibri"/>
              </a:rPr>
              <a:t>Parametri regolabili</a:t>
            </a:r>
            <a:r>
              <a:rPr sz="1250" b="0" i="0">
                <a:solidFill>
                  <a:srgbClr val="5E6E6E"/>
                </a:solidFill>
                <a:latin typeface="Calibri"/>
              </a:rPr>
              <a:t> — difficoltà e accessibilità su misura</a:t>
            </a:r>
          </a:p>
        </p:txBody>
      </p:sp>
      <p:sp>
        <p:nvSpPr>
          <p:cNvPr id="22" name="Oval 21"/>
          <p:cNvSpPr/>
          <p:nvPr/>
        </p:nvSpPr>
        <p:spPr>
          <a:xfrm>
            <a:off x="7223760" y="5559551"/>
            <a:ext cx="256032" cy="256032"/>
          </a:xfrm>
          <a:prstGeom prst="ellipse">
            <a:avLst/>
          </a:prstGeom>
          <a:solidFill>
            <a:srgbClr val="EF9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8" y="5486399"/>
            <a:ext cx="3886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12B2B"/>
                </a:solidFill>
                <a:latin typeface="Calibri"/>
              </a:rPr>
              <a:t>Multipiattaforma</a:t>
            </a:r>
            <a:r>
              <a:rPr sz="1250" b="0" i="0">
                <a:solidFill>
                  <a:srgbClr val="5E6E6E"/>
                </a:solidFill>
                <a:latin typeface="Calibri"/>
              </a:rPr>
              <a:t> — funziona su Windows e Mac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polib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74320"/>
            <a:ext cx="128016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A9A"/>
                </a:solidFill>
                <a:latin typeface="Calibri"/>
              </a:rPr>
              <a:t>COME FUNZIONA IL GIOCO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9692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4C4B"/>
                </a:solidFill>
                <a:latin typeface="Calibri"/>
              </a:rPr>
              <a:t>Il concept in pochi secondi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37376"/>
            <a:ext cx="11183112" cy="15240"/>
          </a:xfrm>
          <a:prstGeom prst="rect">
            <a:avLst/>
          </a:prstGeom>
          <a:solidFill>
            <a:srgbClr val="CBD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E6E"/>
                </a:solidFill>
                <a:latin typeface="Calibri"/>
              </a:rPr>
              <a:t>Astro · Videogioco per la riabilitazione motoria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E6E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706624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502920" y="1783080"/>
            <a:ext cx="2706624" cy="566928"/>
          </a:xfrm>
          <a:prstGeom prst="round2Same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1865376"/>
            <a:ext cx="241401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MUOVI ASTRO</a:t>
            </a:r>
          </a:p>
        </p:txBody>
      </p:sp>
      <p:sp>
        <p:nvSpPr>
          <p:cNvPr id="12" name="Oval 11"/>
          <p:cNvSpPr/>
          <p:nvPr/>
        </p:nvSpPr>
        <p:spPr>
          <a:xfrm>
            <a:off x="1472184" y="2578608"/>
            <a:ext cx="768096" cy="768096"/>
          </a:xfrm>
          <a:prstGeom prst="ellipse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520440"/>
            <a:ext cx="230428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12B2B"/>
                </a:solidFill>
                <a:latin typeface="Calibri"/>
              </a:rPr>
              <a:t>Astro segue il puntatore: mouse, dito davanti alla webcam o joystick. Dove punti, lui va.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2987" y="1783080"/>
            <a:ext cx="2706624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3332987" y="1783080"/>
            <a:ext cx="2706624" cy="566928"/>
          </a:xfrm>
          <a:prstGeom prst="round2SameRect">
            <a:avLst/>
          </a:prstGeom>
          <a:solidFill>
            <a:srgbClr val="EF9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9291" y="1865376"/>
            <a:ext cx="241401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RACCOGLI LE STELLINE</a:t>
            </a:r>
          </a:p>
        </p:txBody>
      </p:sp>
      <p:sp>
        <p:nvSpPr>
          <p:cNvPr id="17" name="Oval 16"/>
          <p:cNvSpPr/>
          <p:nvPr/>
        </p:nvSpPr>
        <p:spPr>
          <a:xfrm>
            <a:off x="4302252" y="2578608"/>
            <a:ext cx="768096" cy="768096"/>
          </a:xfrm>
          <a:prstGeom prst="ellipse">
            <a:avLst/>
          </a:prstGeom>
          <a:solidFill>
            <a:srgbClr val="EF9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4156" y="3520440"/>
            <a:ext cx="230428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12B2B"/>
                </a:solidFill>
                <a:latin typeface="Calibri"/>
              </a:rPr>
              <a:t>Passa vicino alle stelline per raccoglierle tutte: è la Fase 1 di ogni livello.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1783080"/>
            <a:ext cx="2706624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163055" y="1783080"/>
            <a:ext cx="2706624" cy="566928"/>
          </a:xfrm>
          <a:prstGeom prst="round2SameRect">
            <a:avLst/>
          </a:prstGeom>
          <a:solidFill>
            <a:srgbClr val="CB4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1865376"/>
            <a:ext cx="241401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EVITA GLI OSTACOLI</a:t>
            </a:r>
          </a:p>
        </p:txBody>
      </p:sp>
      <p:sp>
        <p:nvSpPr>
          <p:cNvPr id="22" name="Oval 21"/>
          <p:cNvSpPr/>
          <p:nvPr/>
        </p:nvSpPr>
        <p:spPr>
          <a:xfrm>
            <a:off x="7132319" y="2578608"/>
            <a:ext cx="768096" cy="768096"/>
          </a:xfrm>
          <a:prstGeom prst="ellipse">
            <a:avLst/>
          </a:prstGeom>
          <a:solidFill>
            <a:srgbClr val="CB4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3" y="3520440"/>
            <a:ext cx="230428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12B2B"/>
                </a:solidFill>
                <a:latin typeface="Calibri"/>
              </a:rPr>
              <a:t>Asteroidi e bombe fanno perdere una vita: hai 5 vite e 60 secondi per livello.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93124" y="1783080"/>
            <a:ext cx="2706624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>
            <a:off x="8993124" y="1783080"/>
            <a:ext cx="2706624" cy="566928"/>
          </a:xfrm>
          <a:prstGeom prst="round2SameRect">
            <a:avLst/>
          </a:prstGeom>
          <a:solidFill>
            <a:srgbClr val="3C9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9428" y="1865376"/>
            <a:ext cx="241401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RAGGIUNGI LA PORTA</a:t>
            </a:r>
          </a:p>
        </p:txBody>
      </p:sp>
      <p:sp>
        <p:nvSpPr>
          <p:cNvPr id="27" name="Oval 26"/>
          <p:cNvSpPr/>
          <p:nvPr/>
        </p:nvSpPr>
        <p:spPr>
          <a:xfrm>
            <a:off x="9962388" y="2578608"/>
            <a:ext cx="768096" cy="768096"/>
          </a:xfrm>
          <a:prstGeom prst="ellipse">
            <a:avLst/>
          </a:prstGeom>
          <a:solidFill>
            <a:srgbClr val="3C9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4292" y="3520440"/>
            <a:ext cx="230428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12B2B"/>
                </a:solidFill>
                <a:latin typeface="Calibri"/>
              </a:rPr>
              <a:t>Raccolte tutte le stelline appare la porta: raggiungila e passi al livello dopo.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937760"/>
            <a:ext cx="11183112" cy="1115568"/>
          </a:xfrm>
          <a:prstGeom prst="roundRect">
            <a:avLst/>
          </a:prstGeom>
          <a:solidFill>
            <a:srgbClr val="E3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084064"/>
            <a:ext cx="10469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6E6C"/>
                </a:solidFill>
                <a:latin typeface="Calibri"/>
              </a:rPr>
              <a:t>Tre livelli a difficoltà crescente.  </a:t>
            </a:r>
            <a:r>
              <a:rPr sz="1400" b="0" i="0">
                <a:solidFill>
                  <a:srgbClr val="212B2B"/>
                </a:solidFill>
                <a:latin typeface="Calibri"/>
              </a:rPr>
              <a:t>Ogni azione — giusta o sbagliata — riceve subito una risposta sonora e visiva: il paziente capisce al volo se il movimento è corretto.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polib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74320"/>
            <a:ext cx="128016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A9A"/>
                </a:solidFill>
                <a:latin typeface="Calibri"/>
              </a:rPr>
              <a:t>SCHEMA A BLOCCHI —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9692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4C4B"/>
                </a:solidFill>
                <a:latin typeface="Calibri"/>
              </a:rPr>
              <a:t>Come si svolge una partita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37376"/>
            <a:ext cx="11183112" cy="15240"/>
          </a:xfrm>
          <a:prstGeom prst="rect">
            <a:avLst/>
          </a:prstGeom>
          <a:solidFill>
            <a:srgbClr val="CBD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E6E"/>
                </a:solidFill>
                <a:latin typeface="Calibri"/>
              </a:rPr>
              <a:t>Astro · Videogioco per la riabilitazione motoria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E6E"/>
                </a:solidFill>
                <a:latin typeface="Calibr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975104" cy="914400"/>
          </a:xfrm>
          <a:prstGeom prst="roundRect">
            <a:avLst>
              <a:gd name="adj" fmla="val 9000"/>
            </a:avLst>
          </a:prstGeom>
          <a:solidFill>
            <a:srgbClr val="006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1 · SCHERMATA</a:t>
            </a:r>
            <a:br/>
            <a:r>
              <a:rPr sz="1250" b="1" i="0">
                <a:solidFill>
                  <a:srgbClr val="FFFFFF"/>
                </a:solidFill>
                <a:latin typeface="Calibri"/>
              </a:rPr>
              <a:t>INIZIALE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Scegli il comando:</a:t>
            </a:r>
            <a:br/>
            <a:r>
              <a:rPr sz="1000" b="0" i="0">
                <a:solidFill>
                  <a:srgbClr val="FFFFFF"/>
                </a:solidFill>
                <a:latin typeface="Calibri"/>
              </a:rPr>
              <a:t>mouse / dito / joystick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783080"/>
            <a:ext cx="1975104" cy="914400"/>
          </a:xfrm>
          <a:prstGeom prst="roundRect">
            <a:avLst>
              <a:gd name="adj" fmla="val 9000"/>
            </a:avLst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2 · PRONTI…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1,5 s di grazia,</a:t>
            </a:r>
            <a:br/>
            <a:r>
              <a:rPr sz="1000" b="0" i="0">
                <a:solidFill>
                  <a:srgbClr val="FFFFFF"/>
                </a:solidFill>
                <a:latin typeface="Calibri"/>
              </a:rPr>
              <a:t>poi parte il tempo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78024" y="2240280"/>
            <a:ext cx="310896" cy="0"/>
          </a:xfrm>
          <a:prstGeom prst="line">
            <a:avLst/>
          </a:prstGeom>
          <a:ln w="25400">
            <a:solidFill>
              <a:srgbClr val="006E6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74920" y="1783080"/>
            <a:ext cx="1975104" cy="914400"/>
          </a:xfrm>
          <a:prstGeom prst="roundRect">
            <a:avLst>
              <a:gd name="adj" fmla="val 9000"/>
            </a:avLst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3 · FASE 1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Raccogli tutte</a:t>
            </a:r>
            <a:br/>
            <a:r>
              <a:rPr sz="1000" b="0" i="0">
                <a:solidFill>
                  <a:srgbClr val="FFFFFF"/>
                </a:solidFill>
                <a:latin typeface="Calibri"/>
              </a:rPr>
              <a:t>le stelline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64024" y="2240280"/>
            <a:ext cx="310896" cy="0"/>
          </a:xfrm>
          <a:prstGeom prst="line">
            <a:avLst/>
          </a:prstGeom>
          <a:ln w="25400">
            <a:solidFill>
              <a:srgbClr val="006E6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60920" y="1783080"/>
            <a:ext cx="1975104" cy="914400"/>
          </a:xfrm>
          <a:prstGeom prst="roundRect">
            <a:avLst>
              <a:gd name="adj" fmla="val 9000"/>
            </a:avLst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4 · FASE 2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Raggiungi la</a:t>
            </a:r>
            <a:br/>
            <a:r>
              <a:rPr sz="1000" b="0" i="0">
                <a:solidFill>
                  <a:srgbClr val="FFFFFF"/>
                </a:solidFill>
                <a:latin typeface="Calibri"/>
              </a:rPr>
              <a:t>porta che appare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50024" y="2240280"/>
            <a:ext cx="310896" cy="0"/>
          </a:xfrm>
          <a:prstGeom prst="line">
            <a:avLst/>
          </a:prstGeom>
          <a:ln w="25400">
            <a:solidFill>
              <a:srgbClr val="006E6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46920" y="1783080"/>
            <a:ext cx="1975104" cy="914400"/>
          </a:xfrm>
          <a:prstGeom prst="roundRect">
            <a:avLst>
              <a:gd name="adj" fmla="val 9000"/>
            </a:avLst>
          </a:prstGeom>
          <a:solidFill>
            <a:srgbClr val="3C9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5 · LIVELLO</a:t>
            </a:r>
            <a:br/>
            <a:r>
              <a:rPr sz="1250" b="1" i="0">
                <a:solidFill>
                  <a:srgbClr val="FFFFFF"/>
                </a:solidFill>
                <a:latin typeface="Calibri"/>
              </a:rPr>
              <a:t>COMPLETATO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Si passa al</a:t>
            </a:r>
            <a:br/>
            <a:r>
              <a:rPr sz="1000" b="0" i="0">
                <a:solidFill>
                  <a:srgbClr val="FFFFFF"/>
                </a:solidFill>
                <a:latin typeface="Calibri"/>
              </a:rPr>
              <a:t>livello successivo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36024" y="2240280"/>
            <a:ext cx="310896" cy="0"/>
          </a:xfrm>
          <a:prstGeom prst="line">
            <a:avLst/>
          </a:prstGeom>
          <a:ln w="25400">
            <a:solidFill>
              <a:srgbClr val="006E6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86000" y="1426464"/>
            <a:ext cx="10058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6627"/>
                </a:solidFill>
                <a:latin typeface="Calibri"/>
              </a:rPr>
              <a:t>GIOCA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1426464"/>
            <a:ext cx="11430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6E6C"/>
                </a:solidFill>
                <a:latin typeface="Calibri"/>
              </a:rPr>
              <a:t>tutte raccolte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920" y="3246120"/>
            <a:ext cx="1975104" cy="749808"/>
          </a:xfrm>
          <a:prstGeom prst="roundRect">
            <a:avLst>
              <a:gd name="adj" fmla="val 9000"/>
            </a:avLst>
          </a:prstGeom>
          <a:solidFill>
            <a:srgbClr val="EF9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3300"/>
                </a:solidFill>
                <a:latin typeface="Calibri"/>
              </a:rPr>
              <a:t>VITTORIA FINALE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4A3300"/>
                </a:solidFill>
                <a:latin typeface="Calibri"/>
              </a:rPr>
              <a:t>dopo il livello 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634472" y="2697480"/>
            <a:ext cx="0" cy="548640"/>
          </a:xfrm>
          <a:prstGeom prst="line">
            <a:avLst/>
          </a:prstGeom>
          <a:ln w="25400">
            <a:solidFill>
              <a:srgbClr val="EF9E1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62472" y="2697480"/>
            <a:ext cx="0" cy="338328"/>
          </a:xfrm>
          <a:prstGeom prst="line">
            <a:avLst/>
          </a:prstGeom>
          <a:ln w="25400">
            <a:solidFill>
              <a:srgbClr val="3EAE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776472" y="3035808"/>
            <a:ext cx="2286000" cy="0"/>
          </a:xfrm>
          <a:prstGeom prst="line">
            <a:avLst/>
          </a:prstGeom>
          <a:ln w="25400">
            <a:solidFill>
              <a:srgbClr val="3EAEAC"/>
            </a:solidFill>
            <a:prstDash val="dash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776472" y="2697480"/>
            <a:ext cx="0" cy="338328"/>
          </a:xfrm>
          <a:prstGeom prst="line">
            <a:avLst/>
          </a:prstGeom>
          <a:ln w="25400">
            <a:solidFill>
              <a:srgbClr val="3EAE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246120" y="2834640"/>
            <a:ext cx="3108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EAEAC"/>
                </a:solidFill>
                <a:latin typeface="Calibri"/>
              </a:rPr>
              <a:t>PROSSIMO LIVELLO  (1 → 2 → 3)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0896" y="4187952"/>
            <a:ext cx="11576304" cy="1517904"/>
          </a:xfrm>
          <a:prstGeom prst="roundRect">
            <a:avLst/>
          </a:prstGeom>
          <a:solidFill>
            <a:srgbClr val="F7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206240"/>
            <a:ext cx="41148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B493E"/>
                </a:solidFill>
                <a:latin typeface="Calibri"/>
              </a:rPr>
              <a:t>SE SBAGLI (in qualunque momento)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498848"/>
            <a:ext cx="2542032" cy="868680"/>
          </a:xfrm>
          <a:prstGeom prst="roundRect">
            <a:avLst>
              <a:gd name="adj" fmla="val 9000"/>
            </a:avLst>
          </a:prstGeom>
          <a:solidFill>
            <a:srgbClr val="CB4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ERRORE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asteroide, bomba</a:t>
            </a:r>
            <a:br/>
            <a:r>
              <a:rPr sz="950" b="0" i="0">
                <a:solidFill>
                  <a:srgbClr val="FFFFFF"/>
                </a:solidFill>
                <a:latin typeface="Calibri"/>
              </a:rPr>
              <a:t>oppure tempo scaduto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0" y="4498848"/>
            <a:ext cx="2542032" cy="868680"/>
          </a:xfrm>
          <a:prstGeom prst="roundRect">
            <a:avLst>
              <a:gd name="adj" fmla="val 9000"/>
            </a:avLst>
          </a:prstGeom>
          <a:solidFill>
            <a:srgbClr val="C25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REAZIONE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Astro si schiaccia (rosso)</a:t>
            </a:r>
            <a:br/>
            <a:r>
              <a:rPr sz="950" b="0" i="0">
                <a:solidFill>
                  <a:srgbClr val="FFFFFF"/>
                </a:solidFill>
                <a:latin typeface="Calibri"/>
              </a:rPr>
              <a:t>+ suono basso e gentile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044952" y="4933188"/>
            <a:ext cx="384048" cy="0"/>
          </a:xfrm>
          <a:prstGeom prst="line">
            <a:avLst/>
          </a:prstGeom>
          <a:ln w="25400">
            <a:solidFill>
              <a:srgbClr val="CB493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355080" y="4498848"/>
            <a:ext cx="2542032" cy="868680"/>
          </a:xfrm>
          <a:prstGeom prst="roundRect">
            <a:avLst>
              <a:gd name="adj" fmla="val 9000"/>
            </a:avLst>
          </a:prstGeom>
          <a:solidFill>
            <a:srgbClr val="C25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− 1 VITA  ♥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punteggio può calare;</a:t>
            </a:r>
            <a:br/>
            <a:r>
              <a:rPr sz="950" b="0" i="0">
                <a:solidFill>
                  <a:srgbClr val="FFFFFF"/>
                </a:solidFill>
                <a:latin typeface="Calibri"/>
              </a:rPr>
              <a:t>breve invulnerabilità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71032" y="4933188"/>
            <a:ext cx="384048" cy="0"/>
          </a:xfrm>
          <a:prstGeom prst="line">
            <a:avLst/>
          </a:prstGeom>
          <a:ln w="25400">
            <a:solidFill>
              <a:srgbClr val="CB493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81160" y="4498848"/>
            <a:ext cx="2542032" cy="868680"/>
          </a:xfrm>
          <a:prstGeom prst="roundRect">
            <a:avLst>
              <a:gd name="adj" fmla="val 9000"/>
            </a:avLst>
          </a:prstGeom>
          <a:solidFill>
            <a:srgbClr val="AE4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VITE = 0 ?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Sì → GAME OVER (Riprova)</a:t>
            </a:r>
            <a:br/>
            <a:r>
              <a:rPr sz="950" b="0" i="0">
                <a:solidFill>
                  <a:srgbClr val="FFFFFF"/>
                </a:solidFill>
                <a:latin typeface="Calibri"/>
              </a:rPr>
              <a:t>No → continui a giocare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897112" y="4933188"/>
            <a:ext cx="384048" cy="0"/>
          </a:xfrm>
          <a:prstGeom prst="line">
            <a:avLst/>
          </a:prstGeom>
          <a:ln w="25400">
            <a:solidFill>
              <a:srgbClr val="CB493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35040" y="2697480"/>
            <a:ext cx="0" cy="1490472"/>
          </a:xfrm>
          <a:prstGeom prst="line">
            <a:avLst/>
          </a:prstGeom>
          <a:ln w="25400">
            <a:solidFill>
              <a:srgbClr val="CB493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polib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74320"/>
            <a:ext cx="128016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A9A"/>
                </a:solidFill>
                <a:latin typeface="Calibri"/>
              </a:rPr>
              <a:t>SCHEMA A BLOCCHI —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9692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4C4B"/>
                </a:solidFill>
                <a:latin typeface="Calibri"/>
              </a:rPr>
              <a:t>Com'è fatto il software (i moduli)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37376"/>
            <a:ext cx="11183112" cy="15240"/>
          </a:xfrm>
          <a:prstGeom prst="rect">
            <a:avLst/>
          </a:prstGeom>
          <a:solidFill>
            <a:srgbClr val="CBD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E6E"/>
                </a:solidFill>
                <a:latin typeface="Calibri"/>
              </a:rPr>
              <a:t>Astro · Videogioco per la riabilitazione motoria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E6E"/>
                </a:solidFill>
                <a:latin typeface="Calibr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17904"/>
            <a:ext cx="11183112" cy="457200"/>
          </a:xfrm>
          <a:prstGeom prst="roundRect">
            <a:avLst>
              <a:gd name="adj" fmla="val 9000"/>
            </a:avLst>
          </a:prstGeom>
          <a:solidFill>
            <a:srgbClr val="004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AVVIO  —  all'accensione prepara la scena (telecamera) e crea i moduli principali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670048"/>
            <a:ext cx="3456432" cy="1298448"/>
          </a:xfrm>
          <a:prstGeom prst="roundRect">
            <a:avLst>
              <a:gd name="adj" fmla="val 9000"/>
            </a:avLst>
          </a:prstGeom>
          <a:solidFill>
            <a:srgbClr val="006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GESTORE GIOCO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il «cervello»: stato, punteggio,</a:t>
            </a:r>
            <a:br/>
            <a:r>
              <a:rPr sz="1100" b="0" i="0">
                <a:solidFill>
                  <a:srgbClr val="FFFFFF"/>
                </a:solidFill>
                <a:latin typeface="Calibri"/>
              </a:rPr>
              <a:t>vite, tempo, livello, eventi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9048" y="1975104"/>
            <a:ext cx="0" cy="694944"/>
          </a:xfrm>
          <a:prstGeom prst="line">
            <a:avLst/>
          </a:prstGeom>
          <a:ln w="25400">
            <a:solidFill>
              <a:srgbClr val="006E6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2920" y="2331720"/>
            <a:ext cx="3200400" cy="868680"/>
          </a:xfrm>
          <a:prstGeom prst="roundRect">
            <a:avLst>
              <a:gd name="adj" fmla="val 9000"/>
            </a:avLst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COMANDI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Mouse · Dito (webcam) · Joystick</a:t>
            </a:r>
            <a:br/>
            <a:r>
              <a:rPr sz="1000" b="0" i="0">
                <a:solidFill>
                  <a:srgbClr val="FFFFFF"/>
                </a:solidFill>
                <a:latin typeface="Calibri"/>
              </a:rPr>
              <a:t>→ «dove punta il paziente?»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56432"/>
            <a:ext cx="3200400" cy="777240"/>
          </a:xfrm>
          <a:prstGeom prst="roundRect">
            <a:avLst>
              <a:gd name="adj" fmla="val 9000"/>
            </a:avLst>
          </a:prstGeom>
          <a:solidFill>
            <a:srgbClr val="3EA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ASTRO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segue il puntatore; tocca</a:t>
            </a:r>
            <a:br/>
            <a:r>
              <a:rPr sz="1000" b="0" i="0">
                <a:solidFill>
                  <a:srgbClr val="FFFFFF"/>
                </a:solidFill>
                <a:latin typeface="Calibri"/>
              </a:rPr>
              <a:t>stelline / ostacoli / porta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03120" y="3200400"/>
            <a:ext cx="0" cy="256032"/>
          </a:xfrm>
          <a:prstGeom prst="line">
            <a:avLst/>
          </a:prstGeom>
          <a:ln w="25400">
            <a:solidFill>
              <a:srgbClr val="006E6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703320" y="3475085"/>
            <a:ext cx="667512" cy="347106"/>
          </a:xfrm>
          <a:prstGeom prst="line">
            <a:avLst/>
          </a:prstGeom>
          <a:ln w="25400">
            <a:solidFill>
              <a:srgbClr val="006E6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246120" y="3913632"/>
            <a:ext cx="12801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6E6C"/>
                </a:solidFill>
                <a:latin typeface="Calibri"/>
              </a:rPr>
              <a:t>eventi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4261104"/>
            <a:ext cx="3456432" cy="731520"/>
          </a:xfrm>
          <a:prstGeom prst="roundRect">
            <a:avLst>
              <a:gd name="adj" fmla="val 9000"/>
            </a:avLst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INTERFACCIA GIOCO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HUD a schermo, cursore, pulsanti</a:t>
            </a:r>
            <a:br/>
            <a:r>
              <a:rPr sz="950" b="0" i="0">
                <a:solidFill>
                  <a:srgbClr val="FFFFFF"/>
                </a:solidFill>
                <a:latin typeface="Calibri"/>
              </a:rPr>
              <a:t>accessibili 'a permanenza' (dwell)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9048" y="3968496"/>
            <a:ext cx="0" cy="292608"/>
          </a:xfrm>
          <a:prstGeom prst="line">
            <a:avLst/>
          </a:prstGeom>
          <a:ln w="25400">
            <a:solidFill>
              <a:srgbClr val="006E6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522208" y="2331720"/>
            <a:ext cx="3163824" cy="713232"/>
          </a:xfrm>
          <a:prstGeom prst="roundRect">
            <a:avLst>
              <a:gd name="adj" fmla="val 9000"/>
            </a:avLst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CARICATORE LIVELLI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+ Definizione livelli (i 3 livelli)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827264" y="2688336"/>
            <a:ext cx="694944" cy="630936"/>
          </a:xfrm>
          <a:prstGeom prst="line">
            <a:avLst/>
          </a:prstGeom>
          <a:ln w="17780">
            <a:solidFill>
              <a:srgbClr val="006E6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522208" y="3200400"/>
            <a:ext cx="3163824" cy="713232"/>
          </a:xfrm>
          <a:prstGeom prst="roundRect">
            <a:avLst>
              <a:gd name="adj" fmla="val 9000"/>
            </a:avLst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OGGETTI DEL GIOCO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stelline, asteroidi, bombe, porta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27264" y="3319272"/>
            <a:ext cx="694944" cy="237744"/>
          </a:xfrm>
          <a:prstGeom prst="line">
            <a:avLst/>
          </a:prstGeom>
          <a:ln w="17780">
            <a:solidFill>
              <a:srgbClr val="006E6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522208" y="4069080"/>
            <a:ext cx="3163824" cy="713232"/>
          </a:xfrm>
          <a:prstGeom prst="roundRect">
            <a:avLst>
              <a:gd name="adj" fmla="val 9000"/>
            </a:avLst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FEEDBACK PAZIENTE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+ Fabbrica suoni (audio da codice)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27264" y="3319272"/>
            <a:ext cx="694944" cy="1106424"/>
          </a:xfrm>
          <a:prstGeom prst="line">
            <a:avLst/>
          </a:prstGeom>
          <a:ln w="17780">
            <a:solidFill>
              <a:srgbClr val="006E6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522208" y="4937760"/>
            <a:ext cx="3163824" cy="713232"/>
          </a:xfrm>
          <a:prstGeom prst="roundRect">
            <a:avLst>
              <a:gd name="adj" fmla="val 9000"/>
            </a:avLst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FABBRICA IMMAGINI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tutte le grafiche disegnate da codice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827264" y="3319272"/>
            <a:ext cx="694944" cy="1975104"/>
          </a:xfrm>
          <a:prstGeom prst="line">
            <a:avLst/>
          </a:prstGeom>
          <a:ln w="17780">
            <a:solidFill>
              <a:srgbClr val="006E6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02920" y="5779008"/>
            <a:ext cx="11183112" cy="502920"/>
          </a:xfrm>
          <a:prstGeom prst="roundRect">
            <a:avLst>
              <a:gd name="adj" fmla="val 9000"/>
            </a:avLst>
          </a:prstGeom>
          <a:solidFill>
            <a:srgbClr val="EF9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A3300"/>
                </a:solidFill>
                <a:latin typeface="Calibri"/>
              </a:rPr>
              <a:t>PAGINE DEI PARAMETRI (solo valori, niente logica):  Impostazioni · ParametriComandi · ParametriWebcam · ParametriFeedback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polib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74320"/>
            <a:ext cx="128016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A9A"/>
                </a:solidFill>
                <a:latin typeface="Calibri"/>
              </a:rPr>
              <a:t>LE TRE MODALITÀ DI COMANDO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9692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4C4B"/>
                </a:solidFill>
                <a:latin typeface="Calibri"/>
              </a:rPr>
              <a:t>Lo stesso gioco, adattato al paziente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37376"/>
            <a:ext cx="11183112" cy="15240"/>
          </a:xfrm>
          <a:prstGeom prst="rect">
            <a:avLst/>
          </a:prstGeom>
          <a:solidFill>
            <a:srgbClr val="CBD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E6E"/>
                </a:solidFill>
                <a:latin typeface="Calibri"/>
              </a:rPr>
              <a:t>Astro · Videogioco per la riabilitazione motoria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E6E"/>
                </a:solidFill>
                <a:latin typeface="Calibr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64208"/>
            <a:ext cx="3392424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502920" y="1664208"/>
            <a:ext cx="3392424" cy="676656"/>
          </a:xfrm>
          <a:prstGeom prst="round2SameRect">
            <a:avLst/>
          </a:prstGeom>
          <a:solidFill>
            <a:srgbClr val="006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46504"/>
            <a:ext cx="30266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MOUSE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42032"/>
            <a:ext cx="29352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06E6C"/>
                </a:solidFill>
                <a:latin typeface="Calibri"/>
              </a:rPr>
              <a:t>Controllo fine del polso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12B2B"/>
                </a:solidFill>
                <a:latin typeface="Calibri"/>
              </a:rPr>
              <a:t>Per chi ha già buona precisione. Sempre disponibile come riserva.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664208"/>
            <a:ext cx="3392424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4398264" y="1664208"/>
            <a:ext cx="3392424" cy="676656"/>
          </a:xfrm>
          <a:prstGeom prst="round2Same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1746504"/>
            <a:ext cx="30266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DITO (WEBCAM)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542032"/>
            <a:ext cx="29352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09A9A"/>
                </a:solidFill>
                <a:latin typeface="Calibri"/>
              </a:rPr>
              <a:t>Movimento ampio del braccio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12B2B"/>
                </a:solidFill>
                <a:latin typeface="Calibri"/>
              </a:rPr>
              <a:t>Si muove un evidenziatore fluo davanti alla webcam: allena gesti ampi e controllati nello spazio.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93608" y="1664208"/>
            <a:ext cx="3392424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8293608" y="1664208"/>
            <a:ext cx="3392424" cy="676656"/>
          </a:xfrm>
          <a:prstGeom prst="round2SameRect">
            <a:avLst/>
          </a:prstGeom>
          <a:solidFill>
            <a:srgbClr val="EF9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1746504"/>
            <a:ext cx="30266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JOYSTICK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2542032"/>
            <a:ext cx="29352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D96627"/>
                </a:solidFill>
                <a:latin typeface="Calibri"/>
              </a:rPr>
              <a:t>Leva, frecce o tasti WASD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12B2B"/>
                </a:solidFill>
                <a:latin typeface="Calibri"/>
              </a:rPr>
              <a:t>Per chi usa già ausili con leva o preferisce un comando fisico.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498848"/>
            <a:ext cx="11183112" cy="932688"/>
          </a:xfrm>
          <a:prstGeom prst="roundRect">
            <a:avLst/>
          </a:prstGeom>
          <a:solidFill>
            <a:srgbClr val="E3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2194560" y="4059936"/>
            <a:ext cx="3246120" cy="438912"/>
          </a:xfrm>
          <a:prstGeom prst="line">
            <a:avLst/>
          </a:prstGeom>
          <a:ln w="25400">
            <a:solidFill>
              <a:srgbClr val="006E6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80760" y="4059936"/>
            <a:ext cx="0" cy="438912"/>
          </a:xfrm>
          <a:prstGeom prst="line">
            <a:avLst/>
          </a:prstGeom>
          <a:ln w="25400">
            <a:solidFill>
              <a:srgbClr val="006E6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720840" y="4059936"/>
            <a:ext cx="3246120" cy="438912"/>
          </a:xfrm>
          <a:prstGeom prst="line">
            <a:avLst/>
          </a:prstGeom>
          <a:ln w="25400">
            <a:solidFill>
              <a:srgbClr val="006E6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4626864"/>
            <a:ext cx="105156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6E6C"/>
                </a:solidFill>
                <a:latin typeface="Calibri"/>
              </a:rPr>
              <a:t>Un punto unico decide «dove punta il paziente» → Astro segue.  </a:t>
            </a:r>
            <a:r>
              <a:rPr sz="1400" b="0" i="0">
                <a:solidFill>
                  <a:srgbClr val="212B2B"/>
                </a:solidFill>
                <a:latin typeface="Calibri"/>
              </a:rPr>
              <a:t>Cambiare comando non cambia il resto del gioco; se la webcam manca, si torna automaticamente al mouse.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614416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627"/>
                </a:solidFill>
                <a:latin typeface="Calibri"/>
              </a:rPr>
              <a:t>Perché conta per la terapia:  </a:t>
            </a:r>
            <a:r>
              <a:rPr sz="1250" b="0" i="0">
                <a:solidFill>
                  <a:srgbClr val="5E6E6E"/>
                </a:solidFill>
                <a:latin typeface="Calibri"/>
              </a:rPr>
              <a:t>si sceglie il comando in base alle capacità del paziente e all'obiettivo motorio — controllo fine col mouse, movimenti ampi del braccio con la webcam.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polib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74320"/>
            <a:ext cx="128016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A9A"/>
                </a:solidFill>
                <a:latin typeface="Calibri"/>
              </a:rPr>
              <a:t>COMANDO CON LA WEBCAM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9692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4C4B"/>
                </a:solidFill>
                <a:latin typeface="Calibri"/>
              </a:rPr>
              <a:t>Seguire un colore, senza intelligenza artificiale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37376"/>
            <a:ext cx="11183112" cy="15240"/>
          </a:xfrm>
          <a:prstGeom prst="rect">
            <a:avLst/>
          </a:prstGeom>
          <a:solidFill>
            <a:srgbClr val="CBD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E6E"/>
                </a:solidFill>
                <a:latin typeface="Calibri"/>
              </a:rPr>
              <a:t>Astro · Videogioco per la riabilitazione motoria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E6E"/>
                </a:solidFill>
                <a:latin typeface="Calibr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55648"/>
            <a:ext cx="2103120" cy="1810512"/>
          </a:xfrm>
          <a:prstGeom prst="roundRect">
            <a:avLst/>
          </a:prstGeom>
          <a:solidFill>
            <a:srgbClr val="F3F8F7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52728" y="1901952"/>
            <a:ext cx="603504" cy="603504"/>
          </a:xfrm>
          <a:prstGeom prst="ellipse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596896"/>
            <a:ext cx="188366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6E6C"/>
                </a:solidFill>
                <a:latin typeface="Calibri"/>
              </a:rPr>
              <a:t>EVIDENZIATORE FLUO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62656"/>
            <a:ext cx="182879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12B2B"/>
                </a:solidFill>
                <a:latin typeface="Calibri"/>
              </a:rPr>
              <a:t>Il paziente tiene in mano un evidenziatore verde, giallo o fucsia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10611" y="2231136"/>
            <a:ext cx="141733" cy="0"/>
          </a:xfrm>
          <a:prstGeom prst="line">
            <a:avLst/>
          </a:prstGeom>
          <a:ln w="19050">
            <a:solidFill>
              <a:srgbClr val="006E6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56915" y="1755648"/>
            <a:ext cx="2103120" cy="1810512"/>
          </a:xfrm>
          <a:prstGeom prst="roundRect">
            <a:avLst/>
          </a:prstGeom>
          <a:solidFill>
            <a:srgbClr val="F3F8F7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06723" y="1901952"/>
            <a:ext cx="603504" cy="603504"/>
          </a:xfrm>
          <a:prstGeom prst="ellipse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6644" y="2596896"/>
            <a:ext cx="188366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6E6C"/>
                </a:solidFill>
                <a:latin typeface="Calibri"/>
              </a:rPr>
              <a:t>LA WEBCAM GUARDA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4075" y="2962656"/>
            <a:ext cx="182879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12B2B"/>
                </a:solidFill>
                <a:latin typeface="Calibri"/>
              </a:rPr>
              <a:t>Per ogni fotogramma il programma esamina i pixel dell'immagine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64607" y="2231136"/>
            <a:ext cx="141733" cy="0"/>
          </a:xfrm>
          <a:prstGeom prst="line">
            <a:avLst/>
          </a:prstGeom>
          <a:ln w="19050">
            <a:solidFill>
              <a:srgbClr val="006E6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10912" y="1755648"/>
            <a:ext cx="2103120" cy="1810512"/>
          </a:xfrm>
          <a:prstGeom prst="roundRect">
            <a:avLst/>
          </a:prstGeom>
          <a:solidFill>
            <a:srgbClr val="F3F8F7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0719" y="1901952"/>
            <a:ext cx="603504" cy="603504"/>
          </a:xfrm>
          <a:prstGeom prst="ellipse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596896"/>
            <a:ext cx="188366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6E6C"/>
                </a:solidFill>
                <a:latin typeface="Calibri"/>
              </a:rPr>
              <a:t>TROVA IL COLORE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8072" y="2962656"/>
            <a:ext cx="182879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12B2B"/>
                </a:solidFill>
                <a:latin typeface="Calibri"/>
              </a:rPr>
              <a:t>Tiene solo i pixel molto accesi del colore giusto: la pelle viene scartata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18603" y="2231136"/>
            <a:ext cx="141733" cy="0"/>
          </a:xfrm>
          <a:prstGeom prst="line">
            <a:avLst/>
          </a:prstGeom>
          <a:ln w="19050">
            <a:solidFill>
              <a:srgbClr val="006E6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64907" y="1755648"/>
            <a:ext cx="2103120" cy="1810512"/>
          </a:xfrm>
          <a:prstGeom prst="roundRect">
            <a:avLst/>
          </a:prstGeom>
          <a:solidFill>
            <a:srgbClr val="F3F8F7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14715" y="1901952"/>
            <a:ext cx="603504" cy="603504"/>
          </a:xfrm>
          <a:prstGeom prst="ellipse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4636" y="2596896"/>
            <a:ext cx="188366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6E6C"/>
                </a:solidFill>
                <a:latin typeface="Calibri"/>
              </a:rPr>
              <a:t>CALCOLA IL CENTRO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2067" y="2962656"/>
            <a:ext cx="182879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12B2B"/>
                </a:solidFill>
                <a:latin typeface="Calibri"/>
              </a:rPr>
              <a:t>La media di quei pixel è la posizione dell'evidenziatore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72600" y="2231136"/>
            <a:ext cx="141731" cy="0"/>
          </a:xfrm>
          <a:prstGeom prst="line">
            <a:avLst/>
          </a:prstGeom>
          <a:ln w="19050">
            <a:solidFill>
              <a:srgbClr val="006E6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518904" y="1755648"/>
            <a:ext cx="2103120" cy="1810512"/>
          </a:xfrm>
          <a:prstGeom prst="roundRect">
            <a:avLst/>
          </a:prstGeom>
          <a:solidFill>
            <a:srgbClr val="F3F8F7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68712" y="1901952"/>
            <a:ext cx="603504" cy="603504"/>
          </a:xfrm>
          <a:prstGeom prst="ellipse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8632" y="2596896"/>
            <a:ext cx="188366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6E6C"/>
                </a:solidFill>
                <a:latin typeface="Calibri"/>
              </a:rPr>
              <a:t>MUOVE ASTRO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6064" y="2962656"/>
            <a:ext cx="182879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12B2B"/>
                </a:solidFill>
                <a:latin typeface="Calibri"/>
              </a:rPr>
              <a:t>Quel punto diventa il puntatore: Astro segue il braccio (effetto specchio)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858768"/>
            <a:ext cx="5532120" cy="2212848"/>
          </a:xfrm>
          <a:prstGeom prst="roundRect">
            <a:avLst/>
          </a:prstGeom>
          <a:solidFill>
            <a:srgbClr val="E3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041648"/>
            <a:ext cx="50292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3C924B"/>
                </a:solidFill>
                <a:latin typeface="Calibri"/>
              </a:rPr>
              <a:t>Perché un evidenziatore (e non il dito)?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12B2B"/>
                </a:solidFill>
                <a:latin typeface="Calibri"/>
              </a:rPr>
              <a:t>Riconoscere davvero una mano richiede intelligenza artificiale e librerie pesanti. Qui si insegue un colore acceso: semplice, robusto e </a:t>
            </a:r>
            <a:r>
              <a:rPr sz="1250" b="1" i="0">
                <a:solidFill>
                  <a:srgbClr val="3C924B"/>
                </a:solidFill>
                <a:latin typeface="Calibri"/>
              </a:rPr>
              <a:t>scritto interamente da codice, senza librerie esterne</a:t>
            </a:r>
            <a:r>
              <a:rPr sz="1250" b="0" i="0">
                <a:solidFill>
                  <a:srgbClr val="212B2B"/>
                </a:solidFill>
                <a:latin typeface="Calibri"/>
              </a:rPr>
              <a:t>. I colori fluo sono molto più saturi della pelle, quindi il viso non viene confuso col bersaglio.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3858768"/>
            <a:ext cx="5513832" cy="2212848"/>
          </a:xfrm>
          <a:prstGeom prst="roundRect">
            <a:avLst/>
          </a:prstGeom>
          <a:solidFill>
            <a:srgbClr val="E3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041648"/>
            <a:ext cx="49834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6E6C"/>
                </a:solidFill>
                <a:latin typeface="Calibri"/>
              </a:rPr>
              <a:t>Regolabile per il paziente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09A9A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212B2B"/>
                </a:solidFill>
                <a:latin typeface="Calibri"/>
              </a:rPr>
              <a:t>Morbidezza — </a:t>
            </a:r>
            <a:r>
              <a:rPr sz="1200" b="0" i="0">
                <a:solidFill>
                  <a:srgbClr val="5E6E6E"/>
                </a:solidFill>
                <a:latin typeface="Calibri"/>
              </a:rPr>
              <a:t>calma il puntatore se la mano trema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09A9A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212B2B"/>
                </a:solidFill>
                <a:latin typeface="Calibri"/>
              </a:rPr>
              <a:t>Anteprima con mirino — </a:t>
            </a:r>
            <a:r>
              <a:rPr sz="1200" b="0" i="0">
                <a:solidFill>
                  <a:srgbClr val="5E6E6E"/>
                </a:solidFill>
                <a:latin typeface="Calibri"/>
              </a:rPr>
              <a:t>verde quando ti vede, rosso quando no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09A9A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212B2B"/>
                </a:solidFill>
                <a:latin typeface="Calibri"/>
              </a:rPr>
              <a:t>Soglie di colore/luce — </a:t>
            </a:r>
            <a:r>
              <a:rPr sz="1200" b="0" i="0">
                <a:solidFill>
                  <a:srgbClr val="5E6E6E"/>
                </a:solidFill>
                <a:latin typeface="Calibri"/>
              </a:rPr>
              <a:t>si adattano alla luce dell'ambiente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09A9A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212B2B"/>
                </a:solidFill>
                <a:latin typeface="Calibri"/>
              </a:rPr>
              <a:t>Mouse sempre di riserva — </a:t>
            </a:r>
            <a:r>
              <a:rPr sz="1200" b="0" i="0">
                <a:solidFill>
                  <a:srgbClr val="5E6E6E"/>
                </a:solidFill>
                <a:latin typeface="Calibri"/>
              </a:rPr>
              <a:t>il gioco non si blocca mai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polib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74320"/>
            <a:ext cx="128016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A9A"/>
                </a:solidFill>
                <a:latin typeface="Calibri"/>
              </a:rPr>
              <a:t>IL FEEDBACK AL PAZIENTE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9692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4C4B"/>
                </a:solidFill>
                <a:latin typeface="Calibri"/>
              </a:rPr>
              <a:t>Risposta immediata su due canali: orecchio + occhio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37376"/>
            <a:ext cx="11183112" cy="15240"/>
          </a:xfrm>
          <a:prstGeom prst="rect">
            <a:avLst/>
          </a:prstGeom>
          <a:solidFill>
            <a:srgbClr val="CBD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E6E"/>
                </a:solidFill>
                <a:latin typeface="Calibri"/>
              </a:rPr>
              <a:t>Astro · Videogioco per la riabilitazione motoria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E6E"/>
                </a:solidFill>
                <a:latin typeface="Calibr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2514600" cy="694944"/>
          </a:xfrm>
          <a:prstGeom prst="rect">
            <a:avLst/>
          </a:prstGeom>
          <a:solidFill>
            <a:srgbClr val="006E6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AZIONE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783080"/>
            <a:ext cx="2331720" cy="694944"/>
          </a:xfrm>
          <a:prstGeom prst="rect">
            <a:avLst/>
          </a:prstGeom>
          <a:solidFill>
            <a:srgbClr val="006E6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SUONO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49240" y="1783080"/>
            <a:ext cx="2240280" cy="694944"/>
          </a:xfrm>
          <a:prstGeom prst="rect">
            <a:avLst/>
          </a:prstGeom>
          <a:solidFill>
            <a:srgbClr val="006E6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ASTRO (effetto visivo)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78024"/>
            <a:ext cx="2514600" cy="694944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12B2B"/>
                </a:solidFill>
                <a:latin typeface="Calibri"/>
              </a:rPr>
              <a:t>Prende una stellina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2478024"/>
            <a:ext cx="2331720" cy="694944"/>
          </a:xfrm>
          <a:prstGeom prst="rect">
            <a:avLst/>
          </a:prstGeom>
          <a:solidFill>
            <a:srgbClr val="E3F1E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12B2B"/>
                </a:solidFill>
                <a:latin typeface="Calibri"/>
              </a:rPr>
              <a:t>tre note che salgono, allegre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2478024"/>
            <a:ext cx="2240280" cy="694944"/>
          </a:xfrm>
          <a:prstGeom prst="rect">
            <a:avLst/>
          </a:prstGeom>
          <a:solidFill>
            <a:srgbClr val="E3F1E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12B2B"/>
                </a:solidFill>
                <a:latin typeface="Calibri"/>
              </a:rPr>
              <a:t>si gonfia e brilla di verde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172968"/>
            <a:ext cx="2514600" cy="694944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12B2B"/>
                </a:solidFill>
                <a:latin typeface="Calibri"/>
              </a:rPr>
              <a:t>Raggiunge la porta / vince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3172968"/>
            <a:ext cx="2331720" cy="694944"/>
          </a:xfrm>
          <a:prstGeom prst="rect">
            <a:avLst/>
          </a:prstGeom>
          <a:solidFill>
            <a:srgbClr val="E3F1E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12B2B"/>
                </a:solidFill>
                <a:latin typeface="Calibri"/>
              </a:rPr>
              <a:t>piccola fanfara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3172968"/>
            <a:ext cx="2240280" cy="694944"/>
          </a:xfrm>
          <a:prstGeom prst="rect">
            <a:avLst/>
          </a:prstGeom>
          <a:solidFill>
            <a:srgbClr val="E3F1E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12B2B"/>
                </a:solidFill>
                <a:latin typeface="Calibri"/>
              </a:rPr>
              <a:t>si gonfia e brilla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67911"/>
            <a:ext cx="2514600" cy="694944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12B2B"/>
                </a:solidFill>
                <a:latin typeface="Calibri"/>
              </a:rPr>
              <a:t>Tocca asteroide o bomba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3867911"/>
            <a:ext cx="2331720" cy="694944"/>
          </a:xfrm>
          <a:prstGeom prst="rect">
            <a:avLst/>
          </a:prstGeom>
          <a:solidFill>
            <a:srgbClr val="F7E3E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12B2B"/>
                </a:solidFill>
                <a:latin typeface="Calibri"/>
              </a:rPr>
              <a:t>due note basse che scendono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9240" y="3867911"/>
            <a:ext cx="2240280" cy="694944"/>
          </a:xfrm>
          <a:prstGeom prst="rect">
            <a:avLst/>
          </a:prstGeom>
          <a:solidFill>
            <a:srgbClr val="F7E3E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12B2B"/>
                </a:solidFill>
                <a:latin typeface="Calibri"/>
              </a:rPr>
              <a:t>si schiaccia e lampeggia di rosso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562855"/>
            <a:ext cx="2514600" cy="694944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12B2B"/>
                </a:solidFill>
                <a:latin typeface="Calibri"/>
              </a:rPr>
              <a:t>Tempo scaduto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4562855"/>
            <a:ext cx="2331720" cy="694944"/>
          </a:xfrm>
          <a:prstGeom prst="rect">
            <a:avLst/>
          </a:prstGeom>
          <a:solidFill>
            <a:srgbClr val="F7E3E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12B2B"/>
                </a:solidFill>
                <a:latin typeface="Calibri"/>
              </a:rPr>
              <a:t>come l'errore (gentile)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9240" y="4562855"/>
            <a:ext cx="2240280" cy="694944"/>
          </a:xfrm>
          <a:prstGeom prst="rect">
            <a:avLst/>
          </a:prstGeom>
          <a:solidFill>
            <a:srgbClr val="F7E3E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12B2B"/>
                </a:solidFill>
                <a:latin typeface="Calibri"/>
              </a:rPr>
              <a:t>si schiaccia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1783080"/>
            <a:ext cx="3867912" cy="3456432"/>
          </a:xfrm>
          <a:prstGeom prst="roundRect">
            <a:avLst/>
          </a:prstGeom>
          <a:solidFill>
            <a:srgbClr val="E3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1993392"/>
            <a:ext cx="33375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006E6C"/>
                </a:solidFill>
                <a:latin typeface="Calibri"/>
              </a:rPr>
              <a:t>Perché serve in terapia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12B2B"/>
                </a:solidFill>
                <a:latin typeface="Calibri"/>
              </a:rPr>
              <a:t>Un riscontro immediato e su due sensi insieme aiuta il paziente a capire subito se il movimento è corretto, rinforzando i gesti giusti.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12B2B"/>
                </a:solidFill>
                <a:latin typeface="Calibri"/>
              </a:rPr>
              <a:t>Il suono dell'errore è apposta più basso e gentile di quello positivo: deve </a:t>
            </a:r>
            <a:r>
              <a:rPr sz="1250" b="1" i="0">
                <a:solidFill>
                  <a:srgbClr val="D96627"/>
                </a:solidFill>
                <a:latin typeface="Calibri"/>
              </a:rPr>
              <a:t>informare, non spaventare.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12B2B"/>
                </a:solidFill>
                <a:latin typeface="Calibri"/>
              </a:rPr>
              <a:t>Suono ed effetti si possono spegnere per pazienti sensibili o ambienti silenziosi.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polib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74320"/>
            <a:ext cx="128016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A9A"/>
                </a:solidFill>
                <a:latin typeface="Calibri"/>
              </a:rPr>
              <a:t>LIVELLI E PARAMETRI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9692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4C4B"/>
                </a:solidFill>
                <a:latin typeface="Calibri"/>
              </a:rPr>
              <a:t>Difficoltà crescente, tutto regolabile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37376"/>
            <a:ext cx="11183112" cy="15240"/>
          </a:xfrm>
          <a:prstGeom prst="rect">
            <a:avLst/>
          </a:prstGeom>
          <a:solidFill>
            <a:srgbClr val="CBD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E6E"/>
                </a:solidFill>
                <a:latin typeface="Calibri"/>
              </a:rPr>
              <a:t>Astro · Videogioco per la riabilitazione motoria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E6E"/>
                </a:solidFill>
                <a:latin typeface="Calibr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64208"/>
            <a:ext cx="36118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64208"/>
            <a:ext cx="146304" cy="2103120"/>
          </a:xfrm>
          <a:prstGeom prst="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847088"/>
            <a:ext cx="3154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09A9A"/>
                </a:solidFill>
                <a:latin typeface="Calibri"/>
              </a:rPr>
              <a:t>LIVELLO 1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212B2B"/>
                </a:solidFill>
                <a:latin typeface="Calibri"/>
              </a:rPr>
              <a:t>Primo volo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E6E6E"/>
                </a:solidFill>
                <a:latin typeface="Calibri"/>
              </a:rPr>
              <a:t>Spazio aperto, nessun ostacolo: solo stelline da raccogliere. Si prende confidenza col comando.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664208"/>
            <a:ext cx="36118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8536" y="1664208"/>
            <a:ext cx="146304" cy="2103120"/>
          </a:xfrm>
          <a:prstGeom prst="rect">
            <a:avLst/>
          </a:prstGeom>
          <a:solidFill>
            <a:srgbClr val="006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1847088"/>
            <a:ext cx="3154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06E6C"/>
                </a:solidFill>
                <a:latin typeface="Calibri"/>
              </a:rPr>
              <a:t>LIVELLO 2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212B2B"/>
                </a:solidFill>
                <a:latin typeface="Calibri"/>
              </a:rPr>
              <a:t>Tra gli asteroidi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E6E6E"/>
                </a:solidFill>
                <a:latin typeface="Calibri"/>
              </a:rPr>
              <a:t>Compaiono gli asteroidi (muri che fanno male): servono traiettorie più precise.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4152" y="1664208"/>
            <a:ext cx="36118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4152" y="1664208"/>
            <a:ext cx="146304" cy="2103120"/>
          </a:xfrm>
          <a:prstGeom prst="rect">
            <a:avLst/>
          </a:prstGeom>
          <a:solidFill>
            <a:srgbClr val="D96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847088"/>
            <a:ext cx="3154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D96627"/>
                </a:solidFill>
                <a:latin typeface="Calibri"/>
              </a:rPr>
              <a:t>LIVELLO 3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212B2B"/>
                </a:solidFill>
                <a:latin typeface="Calibri"/>
              </a:rPr>
              <a:t>Campo minato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E6E6E"/>
                </a:solidFill>
                <a:latin typeface="Calibri"/>
              </a:rPr>
              <a:t>Asteroidi più quattro bombe da evitare: massima attenzione e controllo.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23360"/>
            <a:ext cx="11183112" cy="2029968"/>
          </a:xfrm>
          <a:prstGeom prst="roundRect">
            <a:avLst/>
          </a:prstGeom>
          <a:solidFill>
            <a:srgbClr val="F3F8F7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69663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6E6C"/>
                </a:solidFill>
                <a:latin typeface="Calibri"/>
              </a:rPr>
              <a:t>La «pagina dei valori» — </a:t>
            </a:r>
            <a:r>
              <a:rPr sz="1350" b="0" i="0">
                <a:solidFill>
                  <a:srgbClr val="212B2B"/>
                </a:solidFill>
                <a:latin typeface="Calibri"/>
              </a:rPr>
              <a:t>difficoltà e accessibilità si cambiano modificando dei numeri, senza toccare la logica del gioco: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73168"/>
            <a:ext cx="2615184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773168"/>
            <a:ext cx="243230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6E6C"/>
                </a:solidFill>
                <a:latin typeface="Calibri"/>
              </a:rPr>
              <a:t>Vite per livello:  </a:t>
            </a:r>
            <a:r>
              <a:rPr sz="1100" b="0" i="0">
                <a:solidFill>
                  <a:srgbClr val="212B2B"/>
                </a:solidFill>
                <a:latin typeface="Calibr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02152" y="4773168"/>
            <a:ext cx="2615184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1880" y="4773168"/>
            <a:ext cx="243230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6E6C"/>
                </a:solidFill>
                <a:latin typeface="Calibri"/>
              </a:rPr>
              <a:t>Tempo per livello:  </a:t>
            </a:r>
            <a:r>
              <a:rPr sz="1100" b="0" i="0">
                <a:solidFill>
                  <a:srgbClr val="212B2B"/>
                </a:solidFill>
                <a:latin typeface="Calibri"/>
              </a:rPr>
              <a:t>60 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7064" y="4773168"/>
            <a:ext cx="2615184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4773168"/>
            <a:ext cx="243230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6E6C"/>
                </a:solidFill>
                <a:latin typeface="Calibri"/>
              </a:rPr>
              <a:t>Stelline (liv. 1):  </a:t>
            </a:r>
            <a:r>
              <a:rPr sz="1100" b="0" i="0">
                <a:solidFill>
                  <a:srgbClr val="212B2B"/>
                </a:solidFill>
                <a:latin typeface="Calibri"/>
              </a:rPr>
              <a:t>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51976" y="4773168"/>
            <a:ext cx="2615184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61704" y="4773168"/>
            <a:ext cx="243230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6E6C"/>
                </a:solidFill>
                <a:latin typeface="Calibri"/>
              </a:rPr>
              <a:t>Punti per stellina:  </a:t>
            </a:r>
            <a:r>
              <a:rPr sz="1100" b="0" i="0">
                <a:solidFill>
                  <a:srgbClr val="212B2B"/>
                </a:solidFill>
                <a:latin typeface="Calibri"/>
              </a:rPr>
              <a:t>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394959"/>
            <a:ext cx="2615184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394959"/>
            <a:ext cx="243230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6E6C"/>
                </a:solidFill>
                <a:latin typeface="Calibri"/>
              </a:rPr>
              <a:t>Morbidezza webcam:  </a:t>
            </a:r>
            <a:r>
              <a:rPr sz="1100" b="0" i="0">
                <a:solidFill>
                  <a:srgbClr val="212B2B"/>
                </a:solidFill>
                <a:latin typeface="Calibri"/>
              </a:rPr>
              <a:t>anti-tremore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02152" y="5394959"/>
            <a:ext cx="2615184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1880" y="5394959"/>
            <a:ext cx="243230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6E6C"/>
                </a:solidFill>
                <a:latin typeface="Calibri"/>
              </a:rPr>
              <a:t>Volume errore:  </a:t>
            </a:r>
            <a:r>
              <a:rPr sz="1100" b="0" i="0">
                <a:solidFill>
                  <a:srgbClr val="212B2B"/>
                </a:solidFill>
                <a:latin typeface="Calibri"/>
              </a:rPr>
              <a:t>più basso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27064" y="5394959"/>
            <a:ext cx="2615184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6792" y="5394959"/>
            <a:ext cx="243230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6E6C"/>
                </a:solidFill>
                <a:latin typeface="Calibri"/>
              </a:rPr>
              <a:t>Suono / effetti:  </a:t>
            </a:r>
            <a:r>
              <a:rPr sz="1100" b="0" i="0">
                <a:solidFill>
                  <a:srgbClr val="212B2B"/>
                </a:solidFill>
                <a:latin typeface="Calibri"/>
              </a:rPr>
              <a:t>on / off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51976" y="5394959"/>
            <a:ext cx="2615184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61704" y="5394959"/>
            <a:ext cx="243230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6E6C"/>
                </a:solidFill>
                <a:latin typeface="Calibri"/>
              </a:rPr>
              <a:t>Pulsanti dwell:  </a:t>
            </a:r>
            <a:r>
              <a:rPr sz="1100" b="0" i="0">
                <a:solidFill>
                  <a:srgbClr val="212B2B"/>
                </a:solidFill>
                <a:latin typeface="Calibri"/>
              </a:rPr>
              <a:t>1,2 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polib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74320"/>
            <a:ext cx="128016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A9A"/>
                </a:solidFill>
                <a:latin typeface="Calibri"/>
              </a:rPr>
              <a:t>IL LAVORO SVOLTO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9692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4C4B"/>
                </a:solidFill>
                <a:latin typeface="Calibri"/>
              </a:rPr>
              <a:t>Cosa ho realizzato (in sintesi, senza codice)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37376"/>
            <a:ext cx="11183112" cy="15240"/>
          </a:xfrm>
          <a:prstGeom prst="rect">
            <a:avLst/>
          </a:prstGeom>
          <a:solidFill>
            <a:srgbClr val="CBD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E6E"/>
                </a:solidFill>
                <a:latin typeface="Calibri"/>
              </a:rPr>
              <a:t>Astro · Videogioco per la riabilitazione motoria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E6E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3630168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502920" y="1691640"/>
            <a:ext cx="3630168" cy="566928"/>
          </a:xfrm>
          <a:prstGeom prst="round2Same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773936"/>
            <a:ext cx="330098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IL GIOCO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514600"/>
            <a:ext cx="3191256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009A9A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12B2B"/>
                </a:solidFill>
                <a:latin typeface="Calibri"/>
              </a:rPr>
              <a:t>Motore di gioco 2D completo in Unity / C#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009A9A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12B2B"/>
                </a:solidFill>
                <a:latin typeface="Calibri"/>
              </a:rPr>
              <a:t>Grafica e suoni generati interamente da codice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009A9A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12B2B"/>
                </a:solidFill>
                <a:latin typeface="Calibri"/>
              </a:rPr>
              <a:t>Tre livelli a difficoltà crescente con stelline, asteroidi e bombe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009A9A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12B2B"/>
                </a:solidFill>
                <a:latin typeface="Calibri"/>
              </a:rPr>
              <a:t>Schermata iniziale e pannello con i parametri tecnici del PC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691640"/>
            <a:ext cx="3630168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4297680" y="1691640"/>
            <a:ext cx="3630168" cy="566928"/>
          </a:xfrm>
          <a:prstGeom prst="round2SameRect">
            <a:avLst/>
          </a:prstGeom>
          <a:solidFill>
            <a:srgbClr val="EF9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773936"/>
            <a:ext cx="330098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3300"/>
                </a:solidFill>
                <a:latin typeface="Calibri"/>
              </a:rPr>
              <a:t>L'ACCESSIBILITÀ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514600"/>
            <a:ext cx="3191256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D96627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12B2B"/>
                </a:solidFill>
                <a:latin typeface="Calibri"/>
              </a:rPr>
              <a:t>Tre modalità di comando: mouse, webcam, joystick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D96627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12B2B"/>
                </a:solidFill>
                <a:latin typeface="Calibri"/>
              </a:rPr>
              <a:t>Tracciamento del colore via webcam (senza IA né librerie)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D96627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12B2B"/>
                </a:solidFill>
                <a:latin typeface="Calibri"/>
              </a:rPr>
              <a:t>Pulsanti 'a permanenza' (dwell): si usano senza clic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D96627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12B2B"/>
                </a:solidFill>
                <a:latin typeface="Calibri"/>
              </a:rPr>
              <a:t>Si torna da soli al mouse se la webcam non c'è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691640"/>
            <a:ext cx="3630168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8092440" y="1691640"/>
            <a:ext cx="3630168" cy="566928"/>
          </a:xfrm>
          <a:prstGeom prst="round2SameRect">
            <a:avLst/>
          </a:prstGeom>
          <a:solidFill>
            <a:srgbClr val="3C9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2" y="1773936"/>
            <a:ext cx="330098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LA TERAPIA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514600"/>
            <a:ext cx="3191256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3C924B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12B2B"/>
                </a:solidFill>
                <a:latin typeface="Calibri"/>
              </a:rPr>
              <a:t>Feedback immediato sonoro e visivo per ogni azione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3C924B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12B2B"/>
                </a:solidFill>
                <a:latin typeface="Calibri"/>
              </a:rPr>
              <a:t>Parametri di difficoltà e accessibilità centralizzati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3C924B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12B2B"/>
                </a:solidFill>
                <a:latin typeface="Calibri"/>
              </a:rPr>
              <a:t>Anti-tremore (morbidezza) e volumi regolabili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3C924B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12B2B"/>
                </a:solidFill>
                <a:latin typeface="Calibri"/>
              </a:rPr>
              <a:t>Compatibilità Windows / Mac per l'uso reale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polib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74320"/>
            <a:ext cx="128016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A9A"/>
                </a:solidFill>
                <a:latin typeface="Calibri"/>
              </a:rPr>
              <a:t>LA RIABILITAZIONE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9692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4C4B"/>
                </a:solidFill>
                <a:latin typeface="Calibri"/>
              </a:rPr>
              <a:t>Di che terapia si tratta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37376"/>
            <a:ext cx="11183112" cy="15240"/>
          </a:xfrm>
          <a:prstGeom prst="rect">
            <a:avLst/>
          </a:prstGeom>
          <a:solidFill>
            <a:srgbClr val="CBD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E6E"/>
                </a:solidFill>
                <a:latin typeface="Calibri"/>
              </a:rPr>
              <a:t>Astro · Videogioco per la riabilitazione motoria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E6E"/>
                </a:solidFill>
                <a:latin typeface="Calibr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64208"/>
            <a:ext cx="5989320" cy="1783080"/>
          </a:xfrm>
          <a:prstGeom prst="roundRect">
            <a:avLst/>
          </a:prstGeom>
          <a:solidFill>
            <a:srgbClr val="E3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47088"/>
            <a:ext cx="5440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06E6C"/>
                </a:solidFill>
                <a:latin typeface="Calibri"/>
              </a:rPr>
              <a:t>Tipo di riabilitazione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12B2B"/>
                </a:solidFill>
                <a:latin typeface="Calibri"/>
              </a:rPr>
              <a:t>Riabilitazione motoria dell'arto superiore e coordinazione occhio-mano in età pediatrica. La modalità webcam allena gesti ampi del braccio (reaching, spalla e gomito) come exergame markerless a basso costo; mouse e joystick allenano destrezza fine e controllo del gesto. È un supporto complementare alla terapia, non un sostituto.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5989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06E6C"/>
                </a:solidFill>
                <a:latin typeface="Calibri"/>
              </a:rPr>
              <a:t>Come il gioco la supporta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09A9A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12B2B"/>
                </a:solidFill>
                <a:latin typeface="Calibri"/>
              </a:rPr>
              <a:t>Gesti ampi del braccio — </a:t>
            </a:r>
            <a:r>
              <a:rPr sz="1250" b="0" i="0">
                <a:solidFill>
                  <a:srgbClr val="5E6E6E"/>
                </a:solidFill>
                <a:latin typeface="Calibri"/>
              </a:rPr>
              <a:t>la modalità webcam sposta l'esercizio dal polso a tutto l'arto superiore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09A9A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12B2B"/>
                </a:solidFill>
                <a:latin typeface="Calibri"/>
              </a:rPr>
              <a:t>Ripetizione senza noia — </a:t>
            </a:r>
            <a:r>
              <a:rPr sz="1250" b="0" i="0">
                <a:solidFill>
                  <a:srgbClr val="5E6E6E"/>
                </a:solidFill>
                <a:latin typeface="Calibri"/>
              </a:rPr>
              <a:t>raccogliere stelline = tante ripetizioni del gesto, ma motivate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09A9A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12B2B"/>
                </a:solidFill>
                <a:latin typeface="Calibri"/>
              </a:rPr>
              <a:t>Coordinazione occhio-mano — </a:t>
            </a:r>
            <a:r>
              <a:rPr sz="1250" b="0" i="0">
                <a:solidFill>
                  <a:srgbClr val="5E6E6E"/>
                </a:solidFill>
                <a:latin typeface="Calibri"/>
              </a:rPr>
              <a:t>guidare Astro verso bersagli e porta allena mira e controllo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09A9A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12B2B"/>
                </a:solidFill>
                <a:latin typeface="Calibri"/>
              </a:rPr>
              <a:t>Dosaggio su misura — </a:t>
            </a:r>
            <a:r>
              <a:rPr sz="1250" b="0" i="0">
                <a:solidFill>
                  <a:srgbClr val="5E6E6E"/>
                </a:solidFill>
                <a:latin typeface="Calibri"/>
              </a:rPr>
              <a:t>difficoltà, tempi e anti-tremore regolabili per ogni paziente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1664208"/>
            <a:ext cx="4919472" cy="4480560"/>
          </a:xfrm>
          <a:prstGeom prst="roundRect">
            <a:avLst/>
          </a:prstGeom>
          <a:solidFill>
            <a:srgbClr val="F3F8F7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874519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6E6C"/>
                </a:solidFill>
                <a:latin typeface="Calibri"/>
              </a:rPr>
              <a:t>Cosa ci si aspetta</a:t>
            </a:r>
          </a:p>
        </p:txBody>
      </p:sp>
      <p:sp>
        <p:nvSpPr>
          <p:cNvPr id="14" name="Oval 13"/>
          <p:cNvSpPr/>
          <p:nvPr/>
        </p:nvSpPr>
        <p:spPr>
          <a:xfrm>
            <a:off x="7059168" y="2414016"/>
            <a:ext cx="256032" cy="256032"/>
          </a:xfrm>
          <a:prstGeom prst="ellipse">
            <a:avLst/>
          </a:prstGeom>
          <a:solidFill>
            <a:srgbClr val="3C9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43216" y="2340864"/>
            <a:ext cx="4023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12B2B"/>
                </a:solidFill>
                <a:latin typeface="Calibri"/>
              </a:rPr>
              <a:t>Migliore destrezza fine dell'arto superiore (mouse e joystick)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980944"/>
            <a:ext cx="256032" cy="256032"/>
          </a:xfrm>
          <a:prstGeom prst="ellipse">
            <a:avLst/>
          </a:prstGeom>
          <a:solidFill>
            <a:srgbClr val="3C9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907792"/>
            <a:ext cx="4023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12B2B"/>
                </a:solidFill>
                <a:latin typeface="Calibri"/>
              </a:rPr>
              <a:t>Migliore controllo dei gesti ampi del braccio (webcam)</a:t>
            </a:r>
          </a:p>
        </p:txBody>
      </p:sp>
      <p:sp>
        <p:nvSpPr>
          <p:cNvPr id="18" name="Oval 17"/>
          <p:cNvSpPr/>
          <p:nvPr/>
        </p:nvSpPr>
        <p:spPr>
          <a:xfrm>
            <a:off x="7059168" y="3547872"/>
            <a:ext cx="256032" cy="256032"/>
          </a:xfrm>
          <a:prstGeom prst="ellipse">
            <a:avLst/>
          </a:prstGeom>
          <a:solidFill>
            <a:srgbClr val="3C9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3216" y="3474720"/>
            <a:ext cx="4023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12B2B"/>
                </a:solidFill>
                <a:latin typeface="Calibri"/>
              </a:rPr>
              <a:t>Migliore coordinazione occhio-mano nel colpire i bersagli</a:t>
            </a:r>
          </a:p>
        </p:txBody>
      </p:sp>
      <p:sp>
        <p:nvSpPr>
          <p:cNvPr id="20" name="Oval 19"/>
          <p:cNvSpPr/>
          <p:nvPr/>
        </p:nvSpPr>
        <p:spPr>
          <a:xfrm>
            <a:off x="7059168" y="4114800"/>
            <a:ext cx="256032" cy="256032"/>
          </a:xfrm>
          <a:prstGeom prst="ellipse">
            <a:avLst/>
          </a:prstGeom>
          <a:solidFill>
            <a:srgbClr val="3C9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4041648"/>
            <a:ext cx="4023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12B2B"/>
                </a:solidFill>
                <a:latin typeface="Calibri"/>
              </a:rPr>
              <a:t>Più motivazione, engagement e aderenza</a:t>
            </a:r>
          </a:p>
        </p:txBody>
      </p:sp>
      <p:sp>
        <p:nvSpPr>
          <p:cNvPr id="22" name="Oval 21"/>
          <p:cNvSpPr/>
          <p:nvPr/>
        </p:nvSpPr>
        <p:spPr>
          <a:xfrm>
            <a:off x="7059168" y="4681728"/>
            <a:ext cx="256032" cy="256032"/>
          </a:xfrm>
          <a:prstGeom prst="ellipse">
            <a:avLst/>
          </a:prstGeom>
          <a:solidFill>
            <a:srgbClr val="3C9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216" y="4608576"/>
            <a:ext cx="4023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12B2B"/>
                </a:solidFill>
                <a:latin typeface="Calibri"/>
              </a:rPr>
              <a:t>Apprendimento più rapido grazie al feedback immediato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5650992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E6E6E"/>
                </a:solidFill>
                <a:latin typeface="Calibri"/>
              </a:rPr>
              <a:t>Nota: prototipo a scopo didattico; l'efficacia clinica va validata con uno studio dedicato.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polib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74320"/>
            <a:ext cx="128016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A9A"/>
                </a:solidFill>
                <a:latin typeface="Calibri"/>
              </a:rPr>
              <a:t>PERCHÉ I GIOCHI AIUTANO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9692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4C4B"/>
                </a:solidFill>
                <a:latin typeface="Calibri"/>
              </a:rPr>
              <a:t>Vantaggi ed evidenze dalla letteratura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37376"/>
            <a:ext cx="11183112" cy="15240"/>
          </a:xfrm>
          <a:prstGeom prst="rect">
            <a:avLst/>
          </a:prstGeom>
          <a:solidFill>
            <a:srgbClr val="CBD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E6E"/>
                </a:solidFill>
                <a:latin typeface="Calibri"/>
              </a:rPr>
              <a:t>Astro · Videogioco per la riabilitazione motoria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E6E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06E6C"/>
                </a:solidFill>
                <a:latin typeface="Calibri"/>
              </a:rPr>
              <a:t>I vantaggi dei serious game in età pediatrica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167128"/>
            <a:ext cx="274320" cy="274320"/>
          </a:xfrm>
          <a:prstGeom prst="ellipse">
            <a:avLst/>
          </a:prstGeom>
          <a:solidFill>
            <a:srgbClr val="EF9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2"/>
            <a:ext cx="4754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12B2B"/>
                </a:solidFill>
                <a:latin typeface="Calibri"/>
              </a:rPr>
              <a:t>Motivazione e aderenza — </a:t>
            </a:r>
            <a:r>
              <a:rPr sz="1250" b="0" i="0">
                <a:solidFill>
                  <a:srgbClr val="5E6E6E"/>
                </a:solidFill>
                <a:latin typeface="Calibri"/>
              </a:rPr>
              <a:t>l'aspetto ludico aumenta intensità e numero di ripetizioni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0632"/>
            <a:ext cx="274320" cy="274320"/>
          </a:xfrm>
          <a:prstGeom prst="ellipse">
            <a:avLst/>
          </a:prstGeom>
          <a:solidFill>
            <a:srgbClr val="EF9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688336"/>
            <a:ext cx="4754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12B2B"/>
                </a:solidFill>
                <a:latin typeface="Calibri"/>
              </a:rPr>
              <a:t>Funzione della mano — </a:t>
            </a:r>
            <a:r>
              <a:rPr sz="1250" b="0" i="0">
                <a:solidFill>
                  <a:srgbClr val="5E6E6E"/>
                </a:solidFill>
                <a:latin typeface="Calibri"/>
              </a:rPr>
              <a:t>migliorano presa e destrezza fine (paralisi cerebrale)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374136"/>
            <a:ext cx="274320" cy="274320"/>
          </a:xfrm>
          <a:prstGeom prst="ellipse">
            <a:avLst/>
          </a:prstGeom>
          <a:solidFill>
            <a:srgbClr val="EF9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91840"/>
            <a:ext cx="4754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12B2B"/>
                </a:solidFill>
                <a:latin typeface="Calibri"/>
              </a:rPr>
              <a:t>Funzione motoria grossolana — </a:t>
            </a:r>
            <a:r>
              <a:rPr sz="1250" b="0" i="0">
                <a:solidFill>
                  <a:srgbClr val="5E6E6E"/>
                </a:solidFill>
                <a:latin typeface="Calibri"/>
              </a:rPr>
              <a:t>migliora, con buon profilo di sicurezza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977639"/>
            <a:ext cx="274320" cy="274320"/>
          </a:xfrm>
          <a:prstGeom prst="ellipse">
            <a:avLst/>
          </a:prstGeom>
          <a:solidFill>
            <a:srgbClr val="EF9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895344"/>
            <a:ext cx="4754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12B2B"/>
                </a:solidFill>
                <a:latin typeface="Calibri"/>
              </a:rPr>
              <a:t>Basso costo, anche a casa — </a:t>
            </a:r>
            <a:r>
              <a:rPr sz="1250" b="0" i="0">
                <a:solidFill>
                  <a:srgbClr val="5E6E6E"/>
                </a:solidFill>
                <a:latin typeface="Calibri"/>
              </a:rPr>
              <a:t>webcam markerless per la tele-riabilitazione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581144"/>
            <a:ext cx="274320" cy="274320"/>
          </a:xfrm>
          <a:prstGeom prst="ellipse">
            <a:avLst/>
          </a:prstGeom>
          <a:solidFill>
            <a:srgbClr val="EF9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498848"/>
            <a:ext cx="4754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12B2B"/>
                </a:solidFill>
                <a:latin typeface="Calibri"/>
              </a:rPr>
              <a:t>Apprendimento motorio — </a:t>
            </a:r>
            <a:r>
              <a:rPr sz="1250" b="0" i="0">
                <a:solidFill>
                  <a:srgbClr val="5E6E6E"/>
                </a:solidFill>
                <a:latin typeface="Calibri"/>
              </a:rPr>
              <a:t>feedback aumentato, ripetizione, difficoltà progressiva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5184648"/>
            <a:ext cx="274320" cy="274320"/>
          </a:xfrm>
          <a:prstGeom prst="ellipse">
            <a:avLst/>
          </a:prstGeom>
          <a:solidFill>
            <a:srgbClr val="EF9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102352"/>
            <a:ext cx="4754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12B2B"/>
                </a:solidFill>
                <a:latin typeface="Calibri"/>
              </a:rPr>
              <a:t>Feedback multimodale — </a:t>
            </a:r>
            <a:r>
              <a:rPr sz="1250" b="0" i="0">
                <a:solidFill>
                  <a:srgbClr val="5E6E6E"/>
                </a:solidFill>
                <a:latin typeface="Calibri"/>
              </a:rPr>
              <a:t>suono + immagine: percepito prima, ricordato più a lungo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1645920"/>
            <a:ext cx="5696712" cy="4526280"/>
          </a:xfrm>
          <a:prstGeom prst="roundRect">
            <a:avLst/>
          </a:prstGeom>
          <a:solidFill>
            <a:srgbClr val="F3F8F7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84708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06E6C"/>
                </a:solidFill>
                <a:latin typeface="Calibri"/>
              </a:rPr>
              <a:t>Cosa dice la ricerca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304288"/>
            <a:ext cx="521208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09A9A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12B2B"/>
                </a:solidFill>
                <a:latin typeface="Calibri"/>
              </a:rPr>
              <a:t>Migliorano presa e motricità fine della mano nei bambini con paralisi cerebrale, come complemento alla terapia.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1">
                <a:solidFill>
                  <a:srgbClr val="006E6C"/>
                </a:solidFill>
                <a:latin typeface="Calibri"/>
              </a:rPr>
              <a:t>       Vezér et al., 2024 — meta-analisi, 22 RCT, 785 bambini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09A9A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12B2B"/>
                </a:solidFill>
                <a:latin typeface="Calibri"/>
              </a:rPr>
              <a:t>L'exergaming in VR/telecamera migliora la funzione motoria grossolana e il range di movimento dell'arto superiore.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1">
                <a:solidFill>
                  <a:srgbClr val="006E6C"/>
                </a:solidFill>
                <a:latin typeface="Calibri"/>
              </a:rPr>
              <a:t>       Tobaiqi et al., 2023 — 45 studi, 1.580 bambini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09A9A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12B2B"/>
                </a:solidFill>
                <a:latin typeface="Calibri"/>
              </a:rPr>
              <a:t>Gli active video game funzionano come aggiunta alla fisioterapia, non come sostituto.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1">
                <a:solidFill>
                  <a:srgbClr val="006E6C"/>
                </a:solidFill>
                <a:latin typeface="Calibri"/>
              </a:rPr>
              <a:t>       Bajpai et al., 2025 — meta-analisi, 12 studi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09A9A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12B2B"/>
                </a:solidFill>
                <a:latin typeface="Calibri"/>
              </a:rPr>
              <a:t>Contano i principi dell'apprendimento motorio: i giochi su misura battono le piattaforme commerciali generiche.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1">
                <a:solidFill>
                  <a:srgbClr val="006E6C"/>
                </a:solidFill>
                <a:latin typeface="Calibri"/>
              </a:rPr>
              <a:t>       Chen et al., 2018; Demers et al., 2021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09A9A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12B2B"/>
                </a:solidFill>
                <a:latin typeface="Calibri"/>
              </a:rPr>
              <a:t>Il feedback multimodale (suono + immagine) è percepito più in fretta e ricordato più a lungo.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1">
                <a:solidFill>
                  <a:srgbClr val="006E6C"/>
                </a:solidFill>
                <a:latin typeface="Calibri"/>
              </a:rPr>
              <a:t>       Moinuddin et al., 2021; Sigrist et al., 2013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polib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74320"/>
            <a:ext cx="128016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A9A"/>
                </a:solidFill>
                <a:latin typeface="Calibri"/>
              </a:rPr>
              <a:t>LA TESINA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9692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4C4B"/>
                </a:solidFill>
                <a:latin typeface="Calibri"/>
              </a:rPr>
              <a:t>Come strutturare la relazione scritta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37376"/>
            <a:ext cx="11183112" cy="15240"/>
          </a:xfrm>
          <a:prstGeom prst="rect">
            <a:avLst/>
          </a:prstGeom>
          <a:solidFill>
            <a:srgbClr val="CBD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E6E"/>
                </a:solidFill>
                <a:latin typeface="Calibri"/>
              </a:rPr>
              <a:t>Astro · Videogioco per la riabilitazione motoria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E6E"/>
                </a:solidFill>
                <a:latin typeface="Calibr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2763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12B2B"/>
                </a:solidFill>
                <a:latin typeface="Calibri"/>
              </a:rPr>
              <a:t>La tesina approfondisce ciò che le slide mostrano in sintesi: testo, immagini del gioco e riferimenti scientifici. Struttura consigliata: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40280"/>
            <a:ext cx="54864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240280"/>
            <a:ext cx="5212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E6C"/>
                </a:solidFill>
                <a:latin typeface="Calibri"/>
              </a:rPr>
              <a:t>1 · Introduzione  </a:t>
            </a:r>
            <a:r>
              <a:rPr sz="1150" b="0" i="0">
                <a:solidFill>
                  <a:srgbClr val="5E6E6E"/>
                </a:solidFill>
                <a:latin typeface="Calibri"/>
              </a:rPr>
              <a:t>— il problema della motivazione in riabilitazione e l'idea del gioco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26664"/>
            <a:ext cx="54864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026664"/>
            <a:ext cx="5212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E6C"/>
                </a:solidFill>
                <a:latin typeface="Calibri"/>
              </a:rPr>
              <a:t>2 · Il gioco «Astro»  </a:t>
            </a:r>
            <a:r>
              <a:rPr sz="1150" b="0" i="0">
                <a:solidFill>
                  <a:srgbClr val="5E6E6E"/>
                </a:solidFill>
                <a:latin typeface="Calibri"/>
              </a:rPr>
              <a:t>— concept, livelli, regole — con schermate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13048"/>
            <a:ext cx="54864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813048"/>
            <a:ext cx="5212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E6C"/>
                </a:solidFill>
                <a:latin typeface="Calibri"/>
              </a:rPr>
              <a:t>3 · Architettura software  </a:t>
            </a:r>
            <a:r>
              <a:rPr sz="1150" b="0" i="0">
                <a:solidFill>
                  <a:srgbClr val="5E6E6E"/>
                </a:solidFill>
                <a:latin typeface="Calibri"/>
              </a:rPr>
              <a:t>— i moduli e le scelte di progetto (schema a blocchi)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599432"/>
            <a:ext cx="54864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4599432"/>
            <a:ext cx="5212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E6C"/>
                </a:solidFill>
                <a:latin typeface="Calibri"/>
              </a:rPr>
              <a:t>4 · Modalità di comando  </a:t>
            </a:r>
            <a:r>
              <a:rPr sz="1150" b="0" i="0">
                <a:solidFill>
                  <a:srgbClr val="5E6E6E"/>
                </a:solidFill>
                <a:latin typeface="Calibri"/>
              </a:rPr>
              <a:t>— mouse, webcam (tracking del colore), joystick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385816"/>
            <a:ext cx="54864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5385816"/>
            <a:ext cx="5212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E6C"/>
                </a:solidFill>
                <a:latin typeface="Calibri"/>
              </a:rPr>
              <a:t>5 · Feedback al paziente  </a:t>
            </a:r>
            <a:r>
              <a:rPr sz="1150" b="0" i="0">
                <a:solidFill>
                  <a:srgbClr val="5E6E6E"/>
                </a:solidFill>
                <a:latin typeface="Calibri"/>
              </a:rPr>
              <a:t>— risposta audiovisiva e apprendimento motorio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240280"/>
            <a:ext cx="54864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240280"/>
            <a:ext cx="5212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E6C"/>
                </a:solidFill>
                <a:latin typeface="Calibri"/>
              </a:rPr>
              <a:t>6 · La riabilitazione  </a:t>
            </a:r>
            <a:r>
              <a:rPr sz="1150" b="0" i="0">
                <a:solidFill>
                  <a:srgbClr val="5E6E6E"/>
                </a:solidFill>
                <a:latin typeface="Calibri"/>
              </a:rPr>
              <a:t>— tipo di terapia e popolazione di riferimento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026664"/>
            <a:ext cx="54864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3026664"/>
            <a:ext cx="5212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E6C"/>
                </a:solidFill>
                <a:latin typeface="Calibri"/>
              </a:rPr>
              <a:t>7 · Vantaggi ed evidenze  </a:t>
            </a:r>
            <a:r>
              <a:rPr sz="1150" b="0" i="0">
                <a:solidFill>
                  <a:srgbClr val="5E6E6E"/>
                </a:solidFill>
                <a:latin typeface="Calibri"/>
              </a:rPr>
              <a:t>— rassegna della letteratura sui serious game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813048"/>
            <a:ext cx="54864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3813048"/>
            <a:ext cx="5212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E6C"/>
                </a:solidFill>
                <a:latin typeface="Calibri"/>
              </a:rPr>
              <a:t>8 · Risultati attesi e metriche  </a:t>
            </a:r>
            <a:r>
              <a:rPr sz="1150" b="0" i="0">
                <a:solidFill>
                  <a:srgbClr val="5E6E6E"/>
                </a:solidFill>
                <a:latin typeface="Calibri"/>
              </a:rPr>
              <a:t>— cosa misurare per valutarne l'utilità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599432"/>
            <a:ext cx="54864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4599432"/>
            <a:ext cx="5212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E6C"/>
                </a:solidFill>
                <a:latin typeface="Calibri"/>
              </a:rPr>
              <a:t>9 · Conclusioni e sviluppi  </a:t>
            </a:r>
            <a:r>
              <a:rPr sz="1150" b="0" i="0">
                <a:solidFill>
                  <a:srgbClr val="5E6E6E"/>
                </a:solidFill>
                <a:latin typeface="Calibri"/>
              </a:rPr>
              <a:t>— limiti e prossimi passi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5385816"/>
            <a:ext cx="54864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5385816"/>
            <a:ext cx="5212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E6C"/>
                </a:solidFill>
                <a:latin typeface="Calibri"/>
              </a:rPr>
              <a:t>Bibliografia + Appendice  </a:t>
            </a:r>
            <a:r>
              <a:rPr sz="1150" b="0" i="0">
                <a:solidFill>
                  <a:srgbClr val="5E6E6E"/>
                </a:solidFill>
                <a:latin typeface="Calibri"/>
              </a:rPr>
              <a:t>— riferimenti citati e pagina dei parametri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polib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74320"/>
            <a:ext cx="128016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A9A"/>
                </a:solidFill>
                <a:latin typeface="Calibri"/>
              </a:rPr>
              <a:t>CONCLUSIONI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9692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4C4B"/>
                </a:solidFill>
                <a:latin typeface="Calibri"/>
              </a:rPr>
              <a:t>Cosa funziona e dove si può arrivare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37376"/>
            <a:ext cx="11183112" cy="15240"/>
          </a:xfrm>
          <a:prstGeom prst="rect">
            <a:avLst/>
          </a:prstGeom>
          <a:solidFill>
            <a:srgbClr val="CBD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E6E"/>
                </a:solidFill>
                <a:latin typeface="Calibri"/>
              </a:rPr>
              <a:t>Astro · Videogioco per la riabilitazione motoria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E6E"/>
                </a:solidFill>
                <a:latin typeface="Calibr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5532120" cy="4434840"/>
          </a:xfrm>
          <a:prstGeom prst="roundRect">
            <a:avLst/>
          </a:prstGeom>
          <a:solidFill>
            <a:srgbClr val="E3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01952"/>
            <a:ext cx="50292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3C924B"/>
                </a:solidFill>
                <a:latin typeface="Calibri"/>
              </a:rPr>
              <a:t>Cosa ho ottenuto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3C924B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212B2B"/>
                </a:solidFill>
                <a:latin typeface="Calibri"/>
              </a:rPr>
              <a:t>Un'interfaccia software completa e funzionante, scritta da zero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3C924B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212B2B"/>
                </a:solidFill>
                <a:latin typeface="Calibri"/>
              </a:rPr>
              <a:t>Tre modi di comandare il gioco, incluso il movimento del braccio via webcam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3C924B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212B2B"/>
                </a:solidFill>
                <a:latin typeface="Calibri"/>
              </a:rPr>
              <a:t>Feedback immediato e parametri regolabili pensati per la terapia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3C924B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212B2B"/>
                </a:solidFill>
                <a:latin typeface="Calibri"/>
              </a:rPr>
              <a:t>Nessuna dipendenza esterna: gira su Windows e Mac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91640"/>
            <a:ext cx="5330952" cy="4434840"/>
          </a:xfrm>
          <a:prstGeom prst="roundRect">
            <a:avLst/>
          </a:prstGeom>
          <a:solidFill>
            <a:srgbClr val="E3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901952"/>
            <a:ext cx="48463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06E6C"/>
                </a:solidFill>
                <a:latin typeface="Calibri"/>
              </a:rPr>
              <a:t>Sviluppi futuri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009A9A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212B2B"/>
                </a:solidFill>
                <a:latin typeface="Calibri"/>
              </a:rPr>
              <a:t>Salvare i progressi e misurare metriche (tempi, errori, ampiezza dei movimenti)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009A9A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212B2B"/>
                </a:solidFill>
                <a:latin typeface="Calibri"/>
              </a:rPr>
              <a:t>Più livelli ed esercizi mirati a gesti specifici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009A9A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212B2B"/>
                </a:solidFill>
                <a:latin typeface="Calibri"/>
              </a:rPr>
              <a:t>Calibrazione guidata della webcam per ogni paziente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009A9A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212B2B"/>
                </a:solidFill>
                <a:latin typeface="Calibri"/>
              </a:rPr>
              <a:t>Validazione con terapisti e piccoli studi pilota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009A9A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212B2B"/>
                </a:solidFill>
                <a:latin typeface="Calibri"/>
              </a:rPr>
              <a:t>Profili paziente e report per il terapista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F9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914400"/>
            <a:ext cx="640080" cy="640080"/>
          </a:xfrm>
          <a:prstGeom prst="ellipse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365760" cy="365760"/>
          </a:xfrm>
          <a:prstGeom prst="ellipse">
            <a:avLst/>
          </a:prstGeom>
          <a:solidFill>
            <a:srgbClr val="3EA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5394960"/>
            <a:ext cx="457200" cy="457200"/>
          </a:xfrm>
          <a:prstGeom prst="ellipse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1097280"/>
            <a:ext cx="274320" cy="274320"/>
          </a:xfrm>
          <a:prstGeom prst="ellipse">
            <a:avLst/>
          </a:prstGeom>
          <a:solidFill>
            <a:srgbClr val="EF9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38560" y="3657600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58384" y="1600200"/>
            <a:ext cx="1463040" cy="1463040"/>
          </a:xfrm>
          <a:prstGeom prst="ellipse">
            <a:avLst/>
          </a:prstGeom>
          <a:solidFill>
            <a:srgbClr val="EF9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337560"/>
            <a:ext cx="944575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Grazie per l'attenzione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3F3F2"/>
                </a:solidFill>
                <a:latin typeface="Calibri"/>
              </a:rPr>
              <a:t>Astro — un videogioco per la riabilitazione motoria</a:t>
            </a:r>
          </a:p>
          <a:p>
            <a:pPr algn="ctr">
              <a:spcBef>
                <a:spcPts val="800"/>
              </a:spcBef>
              <a:spcAft>
                <a:spcPts val="400"/>
              </a:spcAft>
            </a:pPr>
            <a:r>
              <a:rPr sz="1600" b="0" i="1">
                <a:solidFill>
                  <a:srgbClr val="EF9E16"/>
                </a:solidFill>
                <a:latin typeface="Calibri"/>
              </a:rPr>
              <a:t>Domande?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98932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Politecnico di Bari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