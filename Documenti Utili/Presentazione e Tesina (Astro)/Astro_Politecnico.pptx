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2651760" cy="7589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Laurea  ·  Programmazione / Informatica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Astro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48640" y="3291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 videogioco per la riabilitazione motoria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di un’interfaccia software che supporta il paziente durante l’esercizio riabilitativo, trasformandolo in gioco.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33756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2648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91540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20__ / 20__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15608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508760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600200" y="1554480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e l’obiettivo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stato costruito e perché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679192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00200" y="2724912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il gioco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 flusso di gioco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849624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600200" y="3895344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L’architettura del software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moduli e come dialogano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5020056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600200" y="5065776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modalità di comando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Mouse, webcam e joystick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5080" y="1508760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315200" y="1554480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feedback al paziente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sonora e visiva immediata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2679192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7315200" y="2724912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e parametri regolabili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Difficoltà e accessibilità su misura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5080" y="3849624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7315200" y="3895344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riabilitazione e le evidenze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terapia, vantaggi, letteratura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5020056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315200" y="5065776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 futuri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funziona e dove si può arrivare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 progetto e l’obiettivo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417320"/>
            <a:ext cx="6583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problema.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riabilitazione motoria richiede di ripetere molte volte gli stessi movimenti: è efficace ma ripetitiva, e la motivazione cala — soprattutto nei bambini.</a:t>
            </a:r>
            <a:endParaRPr lang="en-US" sz="1350" dirty="0"/>
          </a:p>
          <a:p>
            <a:pPr marL="228600" indent="-2286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L’idea.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Trasformare l’esercizio in un gioco spaziale: il paziente muove «Astro» per raccogliere stelline ed evitare ostacoli, continuando a muoversi divertendosi.</a:t>
            </a:r>
            <a:endParaRPr lang="en-US" sz="1350" dirty="0"/>
          </a:p>
          <a:p>
            <a:pPr marL="228600" indent="-2286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cuore del progetto.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movimento si può eseguire con il braccio nello spazio, inquadrato dalla webcam: si allenano così gesti ampi e controllati.</a:t>
            </a:r>
            <a:endParaRPr lang="en-US" sz="1350" dirty="0"/>
          </a:p>
          <a:p>
            <a:pPr marL="228600" indent="-2286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 lavoro.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Dimostrare competenze di programmazione costruendo da zero un’interfaccia software realmente utile in ambito riabilitativo.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589520" y="1417320"/>
            <a:ext cx="4023360" cy="4617720"/>
          </a:xfrm>
          <a:prstGeom prst="roundRect">
            <a:avLst>
              <a:gd name="adj" fmla="val 1818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09560" y="2011680"/>
            <a:ext cx="3429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in Unity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linguaggio C#</a:t>
            </a:r>
            <a:endParaRPr lang="en-US" sz="1300" dirty="0"/>
          </a:p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e audio da codice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nessun file esterno</a:t>
            </a:r>
            <a:endParaRPr lang="en-US" sz="1300" dirty="0"/>
          </a:p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modalità di comando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mouse · webcam · joystick</a:t>
            </a:r>
            <a:endParaRPr lang="en-US" sz="1300" dirty="0"/>
          </a:p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multisensoriale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suono + reazione visiva</a:t>
            </a:r>
            <a:endParaRPr lang="en-US" sz="1300" dirty="0"/>
          </a:p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regolabili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difficoltà e accessibilità</a:t>
            </a:r>
            <a:endParaRPr lang="en-US" sz="1300" dirty="0"/>
          </a:p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Multipiattaforma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Windows e macOS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Come funziona il gioco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6112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Muovi Astro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segue il puntatore: mouse, webcam o joystick. Dove punti, lui va.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57016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13048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12" name="Text 9"/>
          <p:cNvSpPr/>
          <p:nvPr/>
        </p:nvSpPr>
        <p:spPr>
          <a:xfrm>
            <a:off x="3813048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813048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 le stelline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13048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vicino alle stelline per raccoglierle tutte: è la Fase 1 di ogni livello.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73952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729984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17" name="Text 14"/>
          <p:cNvSpPr/>
          <p:nvPr/>
        </p:nvSpPr>
        <p:spPr>
          <a:xfrm>
            <a:off x="6729984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729984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gli ostacoli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29984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Asteroidi e bombe fanno perdere una vita: hai 5 vite e 60 secondi per livello.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390888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646920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22" name="Text 19"/>
          <p:cNvSpPr/>
          <p:nvPr/>
        </p:nvSpPr>
        <p:spPr>
          <a:xfrm>
            <a:off x="964692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646920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Raggiungi la porta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646920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Raccolte tutte le stelline appare la porta: raggiungila e passi al livello dopo.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4663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a difficoltà crescente.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— corretta o sbagliata — riceve subito una risposta sonora e visiva: il paziente capisce immediatamente se il movimento è corretto.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Architettura del gioco — svolgimento di una partita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Schermata iniziale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il comando: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/ webcam / joystick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07792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907792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Pronti…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s di grazia,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parte il tempo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75504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75504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 tutte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stelline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43216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43216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Raggiungi la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che appare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710928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710928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Livello completato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passa al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successivo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15184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882896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150608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418320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640080" y="2578608"/>
            <a:ext cx="11009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 livello  (1 → 2 → 3)        •        Vittoria finale dopo il livello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593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sbagli (in qualunque momento)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asteroide, bomba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scaduto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3756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33756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Reazione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si schiaccia (rosso)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suono basso e gentile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3504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 vita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può calare;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invulnerabilità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73252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73252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= 0 ?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 → Game Over (Riprova)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continui a giocare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008376" y="4434840"/>
            <a:ext cx="292608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705856" y="4434840"/>
            <a:ext cx="292608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403336" y="4434840"/>
            <a:ext cx="292608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Architettura del software — i moduli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83280" y="132588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/>
        </p:spPr>
      </p:sp>
      <p:sp>
        <p:nvSpPr>
          <p:cNvPr id="6" name="Text 3"/>
          <p:cNvSpPr/>
          <p:nvPr/>
        </p:nvSpPr>
        <p:spPr>
          <a:xfrm>
            <a:off x="338328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 —  prepara la scena (telecamera) e crea i moduli principali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61104" y="27889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70832" y="2788920"/>
            <a:ext cx="343814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 GIOCO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«cervello»: stato, punteggio, vite, tempo, livello, eventi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0" cy="100584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14884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" y="214884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· Webcam · Joystick  →  «dove punta il paziente?»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9808" y="324612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il puntatore; tocca stelline / ostacoli / porta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9808" y="434340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GIOCO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a schermo, cursore, pulsanti a permanenza (dwell)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30768" y="214884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40496" y="214884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CARICATORE LIVELLI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e caricamento dei 3 livelli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30768" y="324612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40496" y="324612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OGGETTI DEL GIOCO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stelline, asteroidi, bombe, porta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30768" y="434340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40496" y="434340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PAZIENTE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fabbrica suoni: audio generato da codice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261104" y="4526280"/>
            <a:ext cx="365760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370832" y="4526280"/>
            <a:ext cx="343814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FABBRICA IMMAGINI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grafiche disegnate da codice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749040" y="2569464"/>
            <a:ext cx="512064" cy="676656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49040" y="3666744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49040" y="4764024"/>
            <a:ext cx="512064" cy="-603504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18704" y="3246120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18704" y="2569464"/>
            <a:ext cx="512064" cy="676656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18704" y="4764024"/>
            <a:ext cx="512064" cy="-603504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89904" y="3703320"/>
            <a:ext cx="0" cy="82296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" y="5623560"/>
            <a:ext cx="10908792" cy="502920"/>
          </a:xfrm>
          <a:prstGeom prst="roundRect">
            <a:avLst>
              <a:gd name="adj" fmla="val 9091"/>
            </a:avLst>
          </a:prstGeom>
          <a:solidFill>
            <a:srgbClr val="D6E7EC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56235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 dei parametri (solo valori, niente logica):  </a:t>
            </a:r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Impostazioni · ParametriComandi · ParametriWebcam · ParametriFeedback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modalità di comando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gioco, adattato al paziente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fine del polso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29443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 ha già buona precisione. Sempre disponibile come riserva.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98848" y="18288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2F5"/>
          </a:solidFill>
          <a:ln w="17780">
            <a:solidFill>
              <a:srgbClr val="1560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73168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73168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ampio del braccio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73168" y="29443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insegue un marcatore colorato (evidenziatore fluo) davanti alla webcam: allena gesti ampi e controllati nello spazio.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57616" y="18288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31936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31936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Leva, frecce o tasti WASD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631936" y="29443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 usa già ausili con leva o preferisce un comando fisico.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43434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unico decide «dove punta il paziente» → Astro segue.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Cambiare comando non altera il resto del gioco; se la webcam manca, si torna automaticamente al mouse.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5120640"/>
            <a:ext cx="10927080" cy="960120"/>
          </a:xfrm>
          <a:prstGeom prst="roundRect">
            <a:avLst>
              <a:gd name="adj" fmla="val 5714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120640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 per la terapia.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comando si sceglie in base alle capacità del paziente e all’obiettivo motorio: controllo fine col mouse e col joystick, movimenti ampi del braccio con la webcam.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Comando con la webcam — inseguimento di un colore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Marcatore fluo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paziente tiene in mano un evidenziatore verde, giallo o fucsia.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07792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72384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3072384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072384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webcam acquisisce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72384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fotogramma il programma esamina i pixel dell’immagine.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175504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40096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7" name="Text 14"/>
          <p:cNvSpPr/>
          <p:nvPr/>
        </p:nvSpPr>
        <p:spPr>
          <a:xfrm>
            <a:off x="5340096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340096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il colore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340096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solo i pixel molto accesi del colore giusto: la pelle viene scartata.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43216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607808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2" name="Text 19"/>
          <p:cNvSpPr/>
          <p:nvPr/>
        </p:nvSpPr>
        <p:spPr>
          <a:xfrm>
            <a:off x="7607808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607808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il centro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607808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di quei pixel è la posizione del marcatore.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710928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875520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7" name="Text 24"/>
          <p:cNvSpPr/>
          <p:nvPr/>
        </p:nvSpPr>
        <p:spPr>
          <a:xfrm>
            <a:off x="98755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875520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 Astro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875520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punto diventa il puntatore: Astro segue il braccio (effetto specchio).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0080" y="3520440"/>
            <a:ext cx="6812280" cy="2606040"/>
          </a:xfrm>
          <a:prstGeom prst="roundRect">
            <a:avLst>
              <a:gd name="adj" fmla="val 2105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868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un marcatore colorato?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68680" y="4041648"/>
            <a:ext cx="6355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Riconoscere davvero una mano richiederebbe intelligenza artificiale e librerie pesanti. Qui si insegue un colore acceso: una soluzione semplice, robusta e scritta interamente da codice, senza librerie esterne. I colori fluo sono molto più saturi della pelle, perciò il viso non viene confuso con il bersaglio.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635240" y="3520440"/>
            <a:ext cx="3913632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86384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Regolabile per il paziente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863840" y="4041648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Morbidezza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calma il puntatore se la mano trema</a:t>
            </a:r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Anteprima con mirino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verde quando ti vede, rosso quando no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Soglie di colore / luce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 adattano alla luce dell’ambiente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di riserva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il gioco non si blocca mai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 feedback al paziente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immediata su due canali: orecchio + occhio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9951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Suono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Astro — effetto visivo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Prende una stellina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 note che salgono, allegre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gonfia e brilla di verde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Raggiunge la porta / vince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piccola fanfara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gonfia e brilla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Tocca asteroide o bomba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note basse che scendono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schiaccia e lampeggia di rosso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scaduto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l’errore (gentile)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schiaccia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828800"/>
            <a:ext cx="3703320" cy="4023360"/>
          </a:xfrm>
          <a:prstGeom prst="roundRect">
            <a:avLst>
              <a:gd name="adj" fmla="val 1481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9244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serve in terapia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92440" y="2395728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riscontro immediato e su due sensi insieme aiuta il paziente a capire subito se il movimento è corretto, rinforzando i gesti giusti</a:t>
            </a:r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(Moinuddin et al., 2021; Sigrist et al., 2013).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suono dell’errore è volutamente più basso e gentile di quello positivo: deve informare, non spaventare.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Suono ed effetti si possono disattivare per pazienti sensibili o ambienti silenziosi.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Livelli e parametri regolabili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173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6112" y="16184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1 — Primo volo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20756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 aperto, nessun ostacolo: solo stelline da raccogliere. Si prende confidenza con il comando.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98848" y="14173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6184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2 — Tra gli asteroidi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20756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Compaiono gli asteroidi (muri che fanno male): servono traiettorie più precise.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57616" y="14173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13648" y="16184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3 — Campo minato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13648" y="20756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Asteroidi più quattro bombe da evitare: massima attenzione e controllo.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«pagina dei valori» — difficoltà e accessibilità si cambiano modificando dei numeri, senza toccare la logica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86200"/>
          <a:ext cx="5394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per livello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per livello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Stelline (livello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Punti per stellina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886200"/>
          <a:ext cx="528523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677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Morbidezza webcam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anti-tremore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errore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basso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Suono / effetti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/ 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Pulsanti dwell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 lavoro svolto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stato realizzato, in sintesi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566160" cy="42519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578608"/>
            <a:ext cx="3017520" cy="0"/>
          </a:xfrm>
          <a:prstGeom prst="line">
            <a:avLst/>
          </a:prstGeom>
          <a:noFill/>
          <a:ln w="12700">
            <a:solidFill>
              <a:srgbClr val="D6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743200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di gioco 2D completo in Unity / C#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e suoni generati interamente da codice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a difficoltà crescente con stelline, asteroidi e bombe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iniziale e pannello con i parametri tecnici del PC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98848" y="1828800"/>
            <a:ext cx="3566160" cy="4251960"/>
          </a:xfrm>
          <a:prstGeom prst="roundRect">
            <a:avLst>
              <a:gd name="adj" fmla="val 1795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73168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L’ACCESSIBILITÀ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73168" y="2578608"/>
            <a:ext cx="3017520" cy="0"/>
          </a:xfrm>
          <a:prstGeom prst="line">
            <a:avLst/>
          </a:prstGeom>
          <a:noFill/>
          <a:ln w="12700">
            <a:solidFill>
              <a:srgbClr val="D6E7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3168" y="2743200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modalità di comando: mouse, webcam, joystick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Tracciamento del colore via webcam (senza IA né librerie)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Pulsanti a permanenza (dwell): si usano senza clic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Ritorno automatico al mouse se la webcam non c’è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57616" y="1828800"/>
            <a:ext cx="3566160" cy="42519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31936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TERAPIA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631936" y="2578608"/>
            <a:ext cx="3017520" cy="0"/>
          </a:xfrm>
          <a:prstGeom prst="line">
            <a:avLst/>
          </a:prstGeom>
          <a:noFill/>
          <a:ln w="12700">
            <a:solidFill>
              <a:srgbClr val="D6E7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31936" y="2743200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immediato sonoro e visivo per ogni azione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di difficoltà e accessibilità centralizzati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Anti-tremore (morbidezza) e volumi regolabili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Compatibilità Windows / macOS per l’uso reale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riabilitazione — di che terapia si tratta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371600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riabilitazione.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Riabilitazione motoria dell’arto superiore e coordinazione occhio-mano in età pediatrica. La modalità webcam allena gesti ampi del braccio (reaching, spalla e gomito) come exergame markerless a basso costo; mouse e joystick allenano destrezza fine e controllo del gesto. È un supporto complementare alla terapia, non un sostituto </a:t>
            </a:r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(Bajpai et al., 2025).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il gioco la supporta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 ampi del braccio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modalità webcam sposta l’esercizio dal polso a tutto l’arto superiore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Ripetizione senza noia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raccogliere stelline = molte ripetizioni del gesto, ma motivate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Coordinazione occhio-mano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guidare Astro verso bersagli e porta allena mira e controllo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Dosaggio su misura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difficoltà, tempi e anti-tremore regolabili per ogni paziente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2788920"/>
            <a:ext cx="514807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ci si aspetta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29400" y="3310128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 destrezza fine dell’arto superiore</a:t>
            </a:r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(mouse e joystick)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 controllo dei gesti ampi del braccio</a:t>
            </a:r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(webcam)  —  Tobaiqi et al., 2023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 coordinazione occhio-mano sui bersagli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motivazione, engagement e aderenza</a:t>
            </a:r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Vezér et al., 2024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Apprendimento più rapido grazie al feedback</a:t>
            </a:r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Sigrist et al., 2013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29400" y="55321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prototipo a scopo didattico; l’efficacia clinica va validata con uno studio dedicato.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Vantaggi ed evidenze dalla letteratura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vantaggi dei serious game in età pediatrica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Motivazione e aderenza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l’aspetto ludico aumenta intensità e numero di ripetizioni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della mano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migliorano presa e destrezza fine (paralisi cerebrale)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motoria grossolana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migliora, con buon profilo di sicurezza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Basso costo, anche a casa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webcam markerless per la tele-riabilitazione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Apprendimento motorio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feedback aumentato, ripetizione, difficoltà progressiva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multimodale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suono + immagine: percepito prima, ricordato più a lungo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325880"/>
            <a:ext cx="5285232" cy="4754880"/>
          </a:xfrm>
          <a:prstGeom prst="roundRect">
            <a:avLst>
              <a:gd name="adj" fmla="val 1154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dice la ricerca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1901952"/>
            <a:ext cx="48463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Migliorano presa e motricità fine della mano nei bambini con paralisi cerebrale, come complemento alla terapia.</a:t>
            </a:r>
            <a:pPr indent="0" marL="0">
              <a:lnSpc>
                <a:spcPct val="103000"/>
              </a:lnSpc>
              <a:buNone/>
            </a:pPr>
            <a:endParaRPr lang="en-US" sz="1150" dirty="0"/>
          </a:p>
          <a:p>
            <a:pPr indent="0" marL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Vezér et al., 2024 — meta-analisi, 22 RCT, 785 bambini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L’exergaming in VR/telecamera migliora la funzione motoria grossolana e il range di movimento dell’arto superiore.</a:t>
            </a:r>
            <a:pPr indent="0" marL="0">
              <a:lnSpc>
                <a:spcPct val="103000"/>
              </a:lnSpc>
              <a:buNone/>
            </a:pPr>
            <a:endParaRPr lang="en-US" sz="1150" dirty="0"/>
          </a:p>
          <a:p>
            <a:pPr indent="0" marL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Tobaiqi et al., 2023 — 45 studi, 1.580 bambini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active video game funzionano come aggiunta alla fisioterapia, non come sostituto.</a:t>
            </a:r>
            <a:pPr indent="0" marL="0">
              <a:lnSpc>
                <a:spcPct val="103000"/>
              </a:lnSpc>
              <a:buNone/>
            </a:pPr>
            <a:endParaRPr lang="en-US" sz="1150" dirty="0"/>
          </a:p>
          <a:p>
            <a:pPr indent="0" marL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Bajpai et al., 2025 — meta-analisi, 12 studi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Contano i principi dell’apprendimento motorio: i giochi su misura battono le piattaforme commerciali generiche.</a:t>
            </a:r>
            <a:pPr indent="0" marL="0">
              <a:lnSpc>
                <a:spcPct val="103000"/>
              </a:lnSpc>
              <a:buNone/>
            </a:pPr>
            <a:endParaRPr lang="en-US" sz="1150" dirty="0"/>
          </a:p>
          <a:p>
            <a:pPr indent="0" marL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2018; Demers et al., 2021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feedback multimodale (suono + immagine) è percepito più in fretta e ricordato più a lungo.</a:t>
            </a:r>
            <a:pPr indent="0" marL="0">
              <a:lnSpc>
                <a:spcPct val="103000"/>
              </a:lnSpc>
              <a:buNone/>
            </a:pPr>
            <a:endParaRPr lang="en-US" sz="1150" dirty="0"/>
          </a:p>
          <a:p>
            <a:pPr indent="0" marL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Moinuddin et al., 2021; Sigrist et al., 2013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relazione scritta — struttura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tesina approfondisce ciò che le slide mostrano in sintesi: testo, immagini del gioco e riferimenti scientifici.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8872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della motivazione in riabilitazione e l’idea del gioco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6700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8720" y="2670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«Astro»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livelli, regole — con schermate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35112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35112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software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moduli e le scelte di progetto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43525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88720" y="43525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di comando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mouse, webcam (tracking del colore), joystick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0080" y="5193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88720" y="51937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al paziente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audiovisiva e apprendimento motorio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6364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1228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riabilitazione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terapia e popolazione di riferimento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63640" y="26700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12280" y="2670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 ed evidenze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rassegna della letteratura sui serious game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63640" y="35112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12280" y="35112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attesi e metriche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misurare per valutarne l’utilità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63640" y="43525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12280" y="43525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e prossimi passi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263640" y="5193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812280" y="51937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e Appendice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citati e pagina dei parametri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Conclusioni e sviluppi futuri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173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ho ottenuto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Un’interfaccia software completa e funzionante, scritta da zero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modi di comandare il gioco, incluso il movimento del braccio via webcam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immediato e parametri regolabili pensati per la terapia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dipendenza esterna: gira su Windows e macOS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99632" y="14173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28232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28232" y="201168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 i progressi e misurare metriche (tempi, errori, ampiezza dei movimenti)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livelli ed esercizi mirati a gesti specifici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 guidata della webcam per ogni paziente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con terapisti e piccoli studi pilota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paziente e report per il terapista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Bibliografia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Vezér, M. et al. (2024). Serious games e funzione della mano nei bambini con paralisi cerebrale — meta-analisi (22 RCT, 785 bambini).</a:t>
            </a:r>
            <a:endParaRPr lang="en-US" sz="1300" dirty="0"/>
          </a:p>
          <a:p>
            <a:pPr marL="279400" indent="-279400">
              <a:lnSpc>
                <a:spcPct val="108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Tobaiqi, M. A. et al. (2023). Exergaming in VR/telecamera per funzione motoria grossolana e range di movimento dell’arto superiore — revisione (45 studi, 1.580 bambini).</a:t>
            </a:r>
            <a:endParaRPr lang="en-US" sz="1300" dirty="0"/>
          </a:p>
          <a:p>
            <a:pPr marL="279400" indent="-279400">
              <a:lnSpc>
                <a:spcPct val="108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Bajpai, S. et al. (2025). Active video game come complemento alla fisioterapia — meta-analisi (12 studi).</a:t>
            </a:r>
            <a:endParaRPr lang="en-US" sz="1300" dirty="0"/>
          </a:p>
          <a:p>
            <a:pPr marL="279400" indent="-279400">
              <a:lnSpc>
                <a:spcPct val="108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Y. et al. (2018). Principi dell’apprendimento motorio applicati ai giochi di riabilitazione.</a:t>
            </a:r>
            <a:endParaRPr lang="en-US" sz="1300" dirty="0"/>
          </a:p>
          <a:p>
            <a:pPr marL="279400" indent="-279400">
              <a:lnSpc>
                <a:spcPct val="108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Demers, M. et al. (2021). Giochi su misura vs piattaforme commerciali generiche nella riabilitazione.</a:t>
            </a:r>
            <a:endParaRPr lang="en-US" sz="1300" dirty="0"/>
          </a:p>
          <a:p>
            <a:pPr marL="279400" indent="-279400">
              <a:lnSpc>
                <a:spcPct val="108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Moinuddin, A. et al. (2021). Feedback multimodale nell’apprendimento motorio.</a:t>
            </a:r>
            <a:endParaRPr lang="en-US" sz="1300" dirty="0"/>
          </a:p>
          <a:p>
            <a:pPr marL="279400" indent="-279400">
              <a:lnSpc>
                <a:spcPct val="108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Sigrist, R., Schellenberg, J., Wolf, P. et al. (2013). Augmented visual, auditory, haptic, and multimodal feedback in motor learning: a review. Psychonomic Bulletin &amp; Review, 20(1), 21–53.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riferimenti completi (autori, rivista, DOI) sono riportati nella bibliografia della relazione scritta.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6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Grazie per l’attenzione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58952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— un videogioco per la riabilitazione motoria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3886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" y="5806440"/>
            <a:ext cx="10671048" cy="0"/>
          </a:xfrm>
          <a:prstGeom prst="line">
            <a:avLst/>
          </a:prstGeom>
          <a:noFill/>
          <a:ln w="12700">
            <a:solidFill>
              <a:srgbClr val="3E7F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 - Videogioco per la riabilitazione motoria</dc:title>
  <dc:subject>PptxGenJS Presentation</dc:subject>
  <dc:creator>Politecnico di Bari</dc:creator>
  <cp:lastModifiedBy>Politecnico di Bari</cp:lastModifiedBy>
  <cp:revision>1</cp:revision>
  <dcterms:created xsi:type="dcterms:W3CDTF">2026-06-19T16:13:28Z</dcterms:created>
  <dcterms:modified xsi:type="dcterms:W3CDTF">2026-06-19T16:13:28Z</dcterms:modified>
</cp:coreProperties>
</file>